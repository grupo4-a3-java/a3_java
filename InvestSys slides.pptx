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7" r:id="rId6"/>
    <p:sldId id="260" r:id="rId7"/>
    <p:sldId id="261" r:id="rId8"/>
    <p:sldId id="262" r:id="rId9"/>
    <p:sldId id="263" r:id="rId10"/>
    <p:sldId id="272" r:id="rId11"/>
    <p:sldId id="274" r:id="rId12"/>
    <p:sldId id="264" r:id="rId13"/>
    <p:sldId id="266" r:id="rId14"/>
    <p:sldId id="271" r:id="rId15"/>
    <p:sldId id="268" r:id="rId16"/>
    <p:sldId id="269" r:id="rId17"/>
    <p:sldId id="270" r:id="rId18"/>
    <p:sldId id="265" r:id="rId19"/>
  </p:sldIdLst>
  <p:sldSz cx="18288000" cy="10287000"/>
  <p:notesSz cx="6858000" cy="9144000"/>
  <p:embeddedFontLst>
    <p:embeddedFont>
      <p:font typeface="Nunito Sans" pitchFamily="2" charset="0"/>
      <p:regular r:id="rId20"/>
      <p:bold r:id="rId21"/>
    </p:embeddedFont>
    <p:embeddedFont>
      <p:font typeface="Nunito Sans Bold" charset="0"/>
      <p:regular r:id="rId22"/>
    </p:embeddedFont>
    <p:embeddedFont>
      <p:font typeface="Nunito Sans Heavy" panose="020B0604020202020204" charset="0"/>
      <p:regular r:id="rId23"/>
    </p:embeddedFont>
    <p:embeddedFont>
      <p:font typeface="Nunito Sans Medium" panose="020B0604020202020204" charset="0"/>
      <p:regular r:id="rId24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39" d="100"/>
          <a:sy n="39" d="100"/>
        </p:scale>
        <p:origin x="940" y="5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font" Target="fonts/font2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1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5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4.fntdata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3.fntdata"/><Relationship Id="rId27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6/8/2026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sv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sv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7.png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sv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8.png"/><Relationship Id="rId4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sv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png"/><Relationship Id="rId4" Type="http://schemas.openxmlformats.org/officeDocument/2006/relationships/image" Target="../media/image9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sv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0.png"/><Relationship Id="rId4" Type="http://schemas.openxmlformats.org/officeDocument/2006/relationships/image" Target="../media/image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sv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1.png"/><Relationship Id="rId4" Type="http://schemas.openxmlformats.org/officeDocument/2006/relationships/image" Target="../media/image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3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3.png"/><Relationship Id="rId5" Type="http://schemas.openxmlformats.org/officeDocument/2006/relationships/image" Target="../media/image11.png"/><Relationship Id="rId4" Type="http://schemas.openxmlformats.org/officeDocument/2006/relationships/image" Target="../media/image3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sv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4.png"/><Relationship Id="rId4" Type="http://schemas.openxmlformats.org/officeDocument/2006/relationships/image" Target="../media/image3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sv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sv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5.png"/><Relationship Id="rId4" Type="http://schemas.openxmlformats.org/officeDocument/2006/relationships/image" Target="../media/image3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sv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sv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sv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5400000" flipV="1">
            <a:off x="1031039" y="-2339"/>
            <a:ext cx="2568028" cy="2572706"/>
          </a:xfrm>
          <a:custGeom>
            <a:avLst/>
            <a:gdLst/>
            <a:ahLst/>
            <a:cxnLst/>
            <a:rect l="l" t="t" r="r" b="b"/>
            <a:pathLst>
              <a:path w="2568028" h="2572706">
                <a:moveTo>
                  <a:pt x="0" y="2572706"/>
                </a:moveTo>
                <a:lnTo>
                  <a:pt x="2568028" y="2572706"/>
                </a:lnTo>
                <a:lnTo>
                  <a:pt x="2568028" y="0"/>
                </a:lnTo>
                <a:lnTo>
                  <a:pt x="0" y="0"/>
                </a:lnTo>
                <a:lnTo>
                  <a:pt x="0" y="2572706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sp>
        <p:nvSpPr>
          <p:cNvPr id="3" name="Freeform 3"/>
          <p:cNvSpPr/>
          <p:nvPr/>
        </p:nvSpPr>
        <p:spPr>
          <a:xfrm rot="-5400000">
            <a:off x="1031039" y="7701746"/>
            <a:ext cx="2568028" cy="2572706"/>
          </a:xfrm>
          <a:custGeom>
            <a:avLst/>
            <a:gdLst/>
            <a:ahLst/>
            <a:cxnLst/>
            <a:rect l="l" t="t" r="r" b="b"/>
            <a:pathLst>
              <a:path w="2568028" h="2572706">
                <a:moveTo>
                  <a:pt x="0" y="0"/>
                </a:moveTo>
                <a:lnTo>
                  <a:pt x="2568028" y="0"/>
                </a:lnTo>
                <a:lnTo>
                  <a:pt x="2568028" y="2572706"/>
                </a:lnTo>
                <a:lnTo>
                  <a:pt x="0" y="257270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sp>
        <p:nvSpPr>
          <p:cNvPr id="4" name="Freeform 4"/>
          <p:cNvSpPr/>
          <p:nvPr/>
        </p:nvSpPr>
        <p:spPr>
          <a:xfrm rot="-5400000">
            <a:off x="1031039" y="2565689"/>
            <a:ext cx="2568028" cy="2572706"/>
          </a:xfrm>
          <a:custGeom>
            <a:avLst/>
            <a:gdLst/>
            <a:ahLst/>
            <a:cxnLst/>
            <a:rect l="l" t="t" r="r" b="b"/>
            <a:pathLst>
              <a:path w="2568028" h="2572706">
                <a:moveTo>
                  <a:pt x="0" y="0"/>
                </a:moveTo>
                <a:lnTo>
                  <a:pt x="2568028" y="0"/>
                </a:lnTo>
                <a:lnTo>
                  <a:pt x="2568028" y="2572706"/>
                </a:lnTo>
                <a:lnTo>
                  <a:pt x="0" y="257270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sp>
        <p:nvSpPr>
          <p:cNvPr id="5" name="Freeform 5"/>
          <p:cNvSpPr/>
          <p:nvPr/>
        </p:nvSpPr>
        <p:spPr>
          <a:xfrm rot="-5400000" flipV="1">
            <a:off x="1031039" y="5133718"/>
            <a:ext cx="2568028" cy="2572706"/>
          </a:xfrm>
          <a:custGeom>
            <a:avLst/>
            <a:gdLst/>
            <a:ahLst/>
            <a:cxnLst/>
            <a:rect l="l" t="t" r="r" b="b"/>
            <a:pathLst>
              <a:path w="2568028" h="2572706">
                <a:moveTo>
                  <a:pt x="0" y="2572706"/>
                </a:moveTo>
                <a:lnTo>
                  <a:pt x="2568028" y="2572706"/>
                </a:lnTo>
                <a:lnTo>
                  <a:pt x="2568028" y="0"/>
                </a:lnTo>
                <a:lnTo>
                  <a:pt x="0" y="0"/>
                </a:lnTo>
                <a:lnTo>
                  <a:pt x="0" y="2572706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grpSp>
        <p:nvGrpSpPr>
          <p:cNvPr id="6" name="Group 6"/>
          <p:cNvGrpSpPr/>
          <p:nvPr/>
        </p:nvGrpSpPr>
        <p:grpSpPr>
          <a:xfrm rot="5400000">
            <a:off x="15717023" y="-1625994"/>
            <a:ext cx="4882380" cy="4882380"/>
            <a:chOff x="0" y="0"/>
            <a:chExt cx="812800" cy="81280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95250" cap="sq">
              <a:solidFill>
                <a:srgbClr val="FFFFFF"/>
              </a:solidFill>
              <a:prstDash val="solid"/>
              <a:miter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76200" y="76200"/>
              <a:ext cx="660400" cy="6604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26"/>
                </a:lnSpc>
              </a:pPr>
              <a:endParaRPr/>
            </a:p>
          </p:txBody>
        </p:sp>
      </p:grpSp>
      <p:grpSp>
        <p:nvGrpSpPr>
          <p:cNvPr id="9" name="Group 9"/>
          <p:cNvGrpSpPr/>
          <p:nvPr/>
        </p:nvGrpSpPr>
        <p:grpSpPr>
          <a:xfrm rot="5400000">
            <a:off x="12607640" y="-3303634"/>
            <a:ext cx="4882380" cy="4882380"/>
            <a:chOff x="0" y="0"/>
            <a:chExt cx="812800" cy="81280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95250" cap="sq">
              <a:solidFill>
                <a:srgbClr val="5170FF"/>
              </a:solidFill>
              <a:prstDash val="solid"/>
              <a:miter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76200" y="76200"/>
              <a:ext cx="660400" cy="6604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26"/>
                </a:lnSpc>
              </a:pPr>
              <a:endParaRPr/>
            </a:p>
          </p:txBody>
        </p:sp>
      </p:grpSp>
      <p:grpSp>
        <p:nvGrpSpPr>
          <p:cNvPr id="12" name="Group 12"/>
          <p:cNvGrpSpPr/>
          <p:nvPr/>
        </p:nvGrpSpPr>
        <p:grpSpPr>
          <a:xfrm rot="2369192">
            <a:off x="14977846" y="7483251"/>
            <a:ext cx="4669706" cy="4669706"/>
            <a:chOff x="0" y="0"/>
            <a:chExt cx="812800" cy="812800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85725" cap="sq">
              <a:solidFill>
                <a:srgbClr val="5170FF"/>
              </a:solidFill>
              <a:prstDash val="solid"/>
              <a:miter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76200" y="95250"/>
              <a:ext cx="660400" cy="641350"/>
            </a:xfrm>
            <a:prstGeom prst="rect">
              <a:avLst/>
            </a:prstGeom>
          </p:spPr>
          <p:txBody>
            <a:bodyPr lIns="47505" tIns="47505" rIns="47505" bIns="47505" rtlCol="0" anchor="ctr"/>
            <a:lstStyle/>
            <a:p>
              <a:pPr marL="0" lvl="0" indent="0" algn="ctr">
                <a:lnSpc>
                  <a:spcPts val="2642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15" name="Group 15"/>
          <p:cNvGrpSpPr/>
          <p:nvPr/>
        </p:nvGrpSpPr>
        <p:grpSpPr>
          <a:xfrm rot="2369192">
            <a:off x="11848367" y="8758123"/>
            <a:ext cx="4669706" cy="4669706"/>
            <a:chOff x="0" y="0"/>
            <a:chExt cx="812800" cy="812800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85725" cap="sq">
              <a:solidFill>
                <a:srgbClr val="FFFFFF"/>
              </a:solidFill>
              <a:prstDash val="solid"/>
              <a:miter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76200" y="95250"/>
              <a:ext cx="660400" cy="641350"/>
            </a:xfrm>
            <a:prstGeom prst="rect">
              <a:avLst/>
            </a:prstGeom>
          </p:spPr>
          <p:txBody>
            <a:bodyPr lIns="47505" tIns="47505" rIns="47505" bIns="47505" rtlCol="0" anchor="ctr"/>
            <a:lstStyle/>
            <a:p>
              <a:pPr marL="0" lvl="0" indent="0" algn="ctr">
                <a:lnSpc>
                  <a:spcPts val="2642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8" name="Freeform 18"/>
          <p:cNvSpPr/>
          <p:nvPr/>
        </p:nvSpPr>
        <p:spPr>
          <a:xfrm>
            <a:off x="6868126" y="4804523"/>
            <a:ext cx="6975842" cy="1190541"/>
          </a:xfrm>
          <a:custGeom>
            <a:avLst/>
            <a:gdLst/>
            <a:ahLst/>
            <a:cxnLst/>
            <a:rect l="l" t="t" r="r" b="b"/>
            <a:pathLst>
              <a:path w="6975842" h="1190541">
                <a:moveTo>
                  <a:pt x="0" y="0"/>
                </a:moveTo>
                <a:lnTo>
                  <a:pt x="6975841" y="0"/>
                </a:lnTo>
                <a:lnTo>
                  <a:pt x="6975841" y="1190541"/>
                </a:lnTo>
                <a:lnTo>
                  <a:pt x="0" y="119054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38588" t="-334447" r="-36959" b="-127427"/>
            </a:stretch>
          </a:blipFill>
        </p:spPr>
        <p:txBody>
          <a:bodyPr/>
          <a:lstStyle/>
          <a:p>
            <a:endParaRPr lang="pt-BR"/>
          </a:p>
        </p:txBody>
      </p:sp>
      <p:sp>
        <p:nvSpPr>
          <p:cNvPr id="19" name="Freeform 19"/>
          <p:cNvSpPr/>
          <p:nvPr/>
        </p:nvSpPr>
        <p:spPr>
          <a:xfrm>
            <a:off x="4444033" y="4047995"/>
            <a:ext cx="2677324" cy="2372076"/>
          </a:xfrm>
          <a:custGeom>
            <a:avLst/>
            <a:gdLst/>
            <a:ahLst/>
            <a:cxnLst/>
            <a:rect l="l" t="t" r="r" b="b"/>
            <a:pathLst>
              <a:path w="2677324" h="2372076">
                <a:moveTo>
                  <a:pt x="0" y="0"/>
                </a:moveTo>
                <a:lnTo>
                  <a:pt x="2677323" y="0"/>
                </a:lnTo>
                <a:lnTo>
                  <a:pt x="2677323" y="2372076"/>
                </a:lnTo>
                <a:lnTo>
                  <a:pt x="0" y="237207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121577" t="-29090" r="-117623" b="-80041"/>
            </a:stretch>
          </a:blipFill>
        </p:spPr>
        <p:txBody>
          <a:bodyPr/>
          <a:lstStyle/>
          <a:p>
            <a:endParaRPr lang="pt-BR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5400000" flipV="1">
            <a:off x="1031039" y="-2339"/>
            <a:ext cx="2568028" cy="2572706"/>
          </a:xfrm>
          <a:custGeom>
            <a:avLst/>
            <a:gdLst/>
            <a:ahLst/>
            <a:cxnLst/>
            <a:rect l="l" t="t" r="r" b="b"/>
            <a:pathLst>
              <a:path w="2568028" h="2572706">
                <a:moveTo>
                  <a:pt x="0" y="2572706"/>
                </a:moveTo>
                <a:lnTo>
                  <a:pt x="2568028" y="2572706"/>
                </a:lnTo>
                <a:lnTo>
                  <a:pt x="2568028" y="0"/>
                </a:lnTo>
                <a:lnTo>
                  <a:pt x="0" y="0"/>
                </a:lnTo>
                <a:lnTo>
                  <a:pt x="0" y="2572706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sp>
        <p:nvSpPr>
          <p:cNvPr id="3" name="Freeform 3"/>
          <p:cNvSpPr/>
          <p:nvPr/>
        </p:nvSpPr>
        <p:spPr>
          <a:xfrm rot="-5400000">
            <a:off x="1031039" y="7701746"/>
            <a:ext cx="2568028" cy="2572706"/>
          </a:xfrm>
          <a:custGeom>
            <a:avLst/>
            <a:gdLst/>
            <a:ahLst/>
            <a:cxnLst/>
            <a:rect l="l" t="t" r="r" b="b"/>
            <a:pathLst>
              <a:path w="2568028" h="2572706">
                <a:moveTo>
                  <a:pt x="0" y="0"/>
                </a:moveTo>
                <a:lnTo>
                  <a:pt x="2568028" y="0"/>
                </a:lnTo>
                <a:lnTo>
                  <a:pt x="2568028" y="2572706"/>
                </a:lnTo>
                <a:lnTo>
                  <a:pt x="0" y="257270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sp>
        <p:nvSpPr>
          <p:cNvPr id="4" name="Freeform 4"/>
          <p:cNvSpPr/>
          <p:nvPr/>
        </p:nvSpPr>
        <p:spPr>
          <a:xfrm rot="-5400000">
            <a:off x="1031039" y="2565689"/>
            <a:ext cx="2568028" cy="2572706"/>
          </a:xfrm>
          <a:custGeom>
            <a:avLst/>
            <a:gdLst/>
            <a:ahLst/>
            <a:cxnLst/>
            <a:rect l="l" t="t" r="r" b="b"/>
            <a:pathLst>
              <a:path w="2568028" h="2572706">
                <a:moveTo>
                  <a:pt x="0" y="0"/>
                </a:moveTo>
                <a:lnTo>
                  <a:pt x="2568028" y="0"/>
                </a:lnTo>
                <a:lnTo>
                  <a:pt x="2568028" y="2572706"/>
                </a:lnTo>
                <a:lnTo>
                  <a:pt x="0" y="257270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sp>
        <p:nvSpPr>
          <p:cNvPr id="5" name="Freeform 5"/>
          <p:cNvSpPr/>
          <p:nvPr/>
        </p:nvSpPr>
        <p:spPr>
          <a:xfrm rot="-5400000" flipV="1">
            <a:off x="1031039" y="5133718"/>
            <a:ext cx="2568028" cy="2572706"/>
          </a:xfrm>
          <a:custGeom>
            <a:avLst/>
            <a:gdLst/>
            <a:ahLst/>
            <a:cxnLst/>
            <a:rect l="l" t="t" r="r" b="b"/>
            <a:pathLst>
              <a:path w="2568028" h="2572706">
                <a:moveTo>
                  <a:pt x="0" y="2572706"/>
                </a:moveTo>
                <a:lnTo>
                  <a:pt x="2568028" y="2572706"/>
                </a:lnTo>
                <a:lnTo>
                  <a:pt x="2568028" y="0"/>
                </a:lnTo>
                <a:lnTo>
                  <a:pt x="0" y="0"/>
                </a:lnTo>
                <a:lnTo>
                  <a:pt x="0" y="2572706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grpSp>
        <p:nvGrpSpPr>
          <p:cNvPr id="6" name="Group 6"/>
          <p:cNvGrpSpPr/>
          <p:nvPr/>
        </p:nvGrpSpPr>
        <p:grpSpPr>
          <a:xfrm rot="5400000">
            <a:off x="15717023" y="-1625994"/>
            <a:ext cx="4882380" cy="4882380"/>
            <a:chOff x="0" y="0"/>
            <a:chExt cx="812800" cy="81280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95250" cap="sq">
              <a:solidFill>
                <a:srgbClr val="FFFFFF"/>
              </a:solidFill>
              <a:prstDash val="solid"/>
              <a:miter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76200" y="76200"/>
              <a:ext cx="660400" cy="6604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26"/>
                </a:lnSpc>
              </a:pPr>
              <a:endParaRPr/>
            </a:p>
          </p:txBody>
        </p:sp>
      </p:grpSp>
      <p:grpSp>
        <p:nvGrpSpPr>
          <p:cNvPr id="9" name="Group 9"/>
          <p:cNvGrpSpPr/>
          <p:nvPr/>
        </p:nvGrpSpPr>
        <p:grpSpPr>
          <a:xfrm rot="5400000">
            <a:off x="12607640" y="-3303634"/>
            <a:ext cx="4882380" cy="4882380"/>
            <a:chOff x="0" y="0"/>
            <a:chExt cx="812800" cy="81280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95250" cap="sq">
              <a:solidFill>
                <a:srgbClr val="5170FF"/>
              </a:solidFill>
              <a:prstDash val="solid"/>
              <a:miter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76200" y="76200"/>
              <a:ext cx="660400" cy="6604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26"/>
                </a:lnSpc>
              </a:pPr>
              <a:endParaRPr/>
            </a:p>
          </p:txBody>
        </p:sp>
      </p:grpSp>
      <p:grpSp>
        <p:nvGrpSpPr>
          <p:cNvPr id="12" name="Group 12"/>
          <p:cNvGrpSpPr/>
          <p:nvPr/>
        </p:nvGrpSpPr>
        <p:grpSpPr>
          <a:xfrm rot="2369192">
            <a:off x="14977846" y="7483251"/>
            <a:ext cx="4669706" cy="4669706"/>
            <a:chOff x="0" y="0"/>
            <a:chExt cx="812800" cy="812800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85725" cap="sq">
              <a:solidFill>
                <a:srgbClr val="5170FF"/>
              </a:solidFill>
              <a:prstDash val="solid"/>
              <a:miter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76200" y="95250"/>
              <a:ext cx="660400" cy="641350"/>
            </a:xfrm>
            <a:prstGeom prst="rect">
              <a:avLst/>
            </a:prstGeom>
          </p:spPr>
          <p:txBody>
            <a:bodyPr lIns="47505" tIns="47505" rIns="47505" bIns="47505" rtlCol="0" anchor="ctr"/>
            <a:lstStyle/>
            <a:p>
              <a:pPr marL="0" lvl="0" indent="0" algn="ctr">
                <a:lnSpc>
                  <a:spcPts val="2642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15" name="Group 15"/>
          <p:cNvGrpSpPr/>
          <p:nvPr/>
        </p:nvGrpSpPr>
        <p:grpSpPr>
          <a:xfrm rot="2369192">
            <a:off x="11848367" y="8758123"/>
            <a:ext cx="4669706" cy="4669706"/>
            <a:chOff x="0" y="0"/>
            <a:chExt cx="812800" cy="812800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85725" cap="sq">
              <a:solidFill>
                <a:srgbClr val="FFFFFF"/>
              </a:solidFill>
              <a:prstDash val="solid"/>
              <a:miter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76200" y="95250"/>
              <a:ext cx="660400" cy="641350"/>
            </a:xfrm>
            <a:prstGeom prst="rect">
              <a:avLst/>
            </a:prstGeom>
          </p:spPr>
          <p:txBody>
            <a:bodyPr lIns="47505" tIns="47505" rIns="47505" bIns="47505" rtlCol="0" anchor="ctr"/>
            <a:lstStyle/>
            <a:p>
              <a:pPr marL="0" lvl="0" indent="0" algn="ctr">
                <a:lnSpc>
                  <a:spcPts val="2642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8" name="TextBox 18"/>
          <p:cNvSpPr txBox="1"/>
          <p:nvPr/>
        </p:nvSpPr>
        <p:spPr>
          <a:xfrm>
            <a:off x="3923997" y="1863945"/>
            <a:ext cx="6567896" cy="56414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4210"/>
              </a:lnSpc>
            </a:pPr>
            <a:r>
              <a:rPr lang="en-US" sz="4210" dirty="0" err="1">
                <a:solidFill>
                  <a:schemeClr val="tx2">
                    <a:lumMod val="60000"/>
                    <a:lumOff val="40000"/>
                  </a:schemeClr>
                </a:solidFill>
                <a:latin typeface="Nunito Sans"/>
                <a:ea typeface="Nunito Sans"/>
                <a:cs typeface="Nunito Sans"/>
                <a:sym typeface="Nunito Sans"/>
              </a:rPr>
              <a:t>Membros</a:t>
            </a:r>
            <a:r>
              <a:rPr lang="en-US" sz="4210" dirty="0">
                <a:solidFill>
                  <a:schemeClr val="tx2">
                    <a:lumMod val="60000"/>
                    <a:lumOff val="40000"/>
                  </a:schemeClr>
                </a:solidFill>
                <a:latin typeface="Nunito Sans"/>
                <a:ea typeface="Nunito Sans"/>
                <a:cs typeface="Nunito Sans"/>
                <a:sym typeface="Nunito Sans"/>
              </a:rPr>
              <a:t> do </a:t>
            </a:r>
            <a:r>
              <a:rPr lang="en-US" sz="4210" dirty="0" err="1">
                <a:solidFill>
                  <a:schemeClr val="tx2">
                    <a:lumMod val="60000"/>
                    <a:lumOff val="40000"/>
                  </a:schemeClr>
                </a:solidFill>
                <a:latin typeface="Nunito Sans"/>
                <a:ea typeface="Nunito Sans"/>
                <a:cs typeface="Nunito Sans"/>
                <a:sym typeface="Nunito Sans"/>
              </a:rPr>
              <a:t>grupo</a:t>
            </a:r>
            <a:endParaRPr lang="en-US" sz="4210" dirty="0">
              <a:solidFill>
                <a:schemeClr val="tx2">
                  <a:lumMod val="60000"/>
                  <a:lumOff val="40000"/>
                </a:schemeClr>
              </a:solidFill>
              <a:latin typeface="Nunito Sans"/>
              <a:ea typeface="Nunito Sans"/>
              <a:cs typeface="Nunito Sans"/>
              <a:sym typeface="Nunito Sans"/>
            </a:endParaRPr>
          </a:p>
        </p:txBody>
      </p:sp>
      <p:sp>
        <p:nvSpPr>
          <p:cNvPr id="19" name="TextBox 19"/>
          <p:cNvSpPr txBox="1"/>
          <p:nvPr/>
        </p:nvSpPr>
        <p:spPr>
          <a:xfrm>
            <a:off x="3960824" y="2974928"/>
            <a:ext cx="8969407" cy="483134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210"/>
              </a:lnSpc>
            </a:pPr>
            <a:r>
              <a:rPr lang="en-US" sz="4210" dirty="0">
                <a:solidFill>
                  <a:schemeClr val="tx2">
                    <a:lumMod val="60000"/>
                    <a:lumOff val="40000"/>
                  </a:schemeClr>
                </a:solidFill>
                <a:latin typeface="Nunito Sans"/>
                <a:ea typeface="Nunito Sans"/>
                <a:cs typeface="Nunito Sans"/>
                <a:sym typeface="Nunito Sans"/>
              </a:rPr>
              <a:t>Artur Ivan Santos </a:t>
            </a:r>
            <a:r>
              <a:rPr lang="en-US" sz="4210" dirty="0" err="1">
                <a:solidFill>
                  <a:schemeClr val="tx2">
                    <a:lumMod val="60000"/>
                    <a:lumOff val="40000"/>
                  </a:schemeClr>
                </a:solidFill>
                <a:latin typeface="Nunito Sans"/>
                <a:ea typeface="Nunito Sans"/>
                <a:cs typeface="Nunito Sans"/>
                <a:sym typeface="Nunito Sans"/>
              </a:rPr>
              <a:t>Fornagieri</a:t>
            </a:r>
            <a:r>
              <a:rPr lang="en-US" sz="4210" dirty="0">
                <a:solidFill>
                  <a:schemeClr val="tx2">
                    <a:lumMod val="60000"/>
                    <a:lumOff val="40000"/>
                  </a:schemeClr>
                </a:solidFill>
                <a:latin typeface="Nunito Sans"/>
                <a:ea typeface="Nunito Sans"/>
                <a:cs typeface="Nunito Sans"/>
                <a:sym typeface="Nunito Sans"/>
              </a:rPr>
              <a:t> </a:t>
            </a:r>
          </a:p>
          <a:p>
            <a:pPr algn="l">
              <a:lnSpc>
                <a:spcPts val="4210"/>
              </a:lnSpc>
            </a:pPr>
            <a:r>
              <a:rPr lang="en-US" sz="4210" dirty="0">
                <a:solidFill>
                  <a:schemeClr val="tx2">
                    <a:lumMod val="60000"/>
                    <a:lumOff val="40000"/>
                  </a:schemeClr>
                </a:solidFill>
                <a:latin typeface="Nunito Sans"/>
                <a:ea typeface="Nunito Sans"/>
                <a:cs typeface="Nunito Sans"/>
                <a:sym typeface="Nunito Sans"/>
              </a:rPr>
              <a:t>Daniel Alves da Costa </a:t>
            </a:r>
          </a:p>
          <a:p>
            <a:pPr algn="l">
              <a:lnSpc>
                <a:spcPts val="4210"/>
              </a:lnSpc>
            </a:pPr>
            <a:r>
              <a:rPr lang="en-US" sz="4210" dirty="0">
                <a:solidFill>
                  <a:schemeClr val="tx2">
                    <a:lumMod val="60000"/>
                    <a:lumOff val="40000"/>
                  </a:schemeClr>
                </a:solidFill>
                <a:latin typeface="Nunito Sans"/>
                <a:ea typeface="Nunito Sans"/>
                <a:cs typeface="Nunito Sans"/>
                <a:sym typeface="Nunito Sans"/>
              </a:rPr>
              <a:t>Felipe </a:t>
            </a:r>
            <a:r>
              <a:rPr lang="en-US" sz="4210" dirty="0" err="1">
                <a:solidFill>
                  <a:schemeClr val="tx2">
                    <a:lumMod val="60000"/>
                    <a:lumOff val="40000"/>
                  </a:schemeClr>
                </a:solidFill>
                <a:latin typeface="Nunito Sans"/>
                <a:ea typeface="Nunito Sans"/>
                <a:cs typeface="Nunito Sans"/>
                <a:sym typeface="Nunito Sans"/>
              </a:rPr>
              <a:t>Anthero</a:t>
            </a:r>
            <a:r>
              <a:rPr lang="en-US" sz="4210" dirty="0">
                <a:solidFill>
                  <a:schemeClr val="tx2">
                    <a:lumMod val="60000"/>
                    <a:lumOff val="40000"/>
                  </a:schemeClr>
                </a:solidFill>
                <a:latin typeface="Nunito Sans"/>
                <a:ea typeface="Nunito Sans"/>
                <a:cs typeface="Nunito Sans"/>
                <a:sym typeface="Nunito Sans"/>
              </a:rPr>
              <a:t> Padovani </a:t>
            </a:r>
          </a:p>
          <a:p>
            <a:pPr algn="l">
              <a:lnSpc>
                <a:spcPts val="4210"/>
              </a:lnSpc>
            </a:pPr>
            <a:r>
              <a:rPr lang="en-US" sz="4210" dirty="0">
                <a:solidFill>
                  <a:schemeClr val="tx2">
                    <a:lumMod val="60000"/>
                    <a:lumOff val="40000"/>
                  </a:schemeClr>
                </a:solidFill>
                <a:latin typeface="Nunito Sans"/>
                <a:ea typeface="Nunito Sans"/>
                <a:cs typeface="Nunito Sans"/>
                <a:sym typeface="Nunito Sans"/>
              </a:rPr>
              <a:t>Gabriel Cardona Buffone Victor </a:t>
            </a:r>
          </a:p>
          <a:p>
            <a:pPr algn="l">
              <a:lnSpc>
                <a:spcPts val="4210"/>
              </a:lnSpc>
            </a:pPr>
            <a:r>
              <a:rPr lang="en-US" sz="4210" dirty="0">
                <a:solidFill>
                  <a:schemeClr val="tx2">
                    <a:lumMod val="60000"/>
                    <a:lumOff val="40000"/>
                  </a:schemeClr>
                </a:solidFill>
                <a:latin typeface="Nunito Sans"/>
                <a:ea typeface="Nunito Sans"/>
                <a:cs typeface="Nunito Sans"/>
                <a:sym typeface="Nunito Sans"/>
              </a:rPr>
              <a:t>Giovanna Padilha </a:t>
            </a:r>
            <a:r>
              <a:rPr lang="en-US" sz="4210" dirty="0" err="1">
                <a:solidFill>
                  <a:schemeClr val="tx2">
                    <a:lumMod val="60000"/>
                    <a:lumOff val="40000"/>
                  </a:schemeClr>
                </a:solidFill>
                <a:latin typeface="Nunito Sans"/>
                <a:ea typeface="Nunito Sans"/>
                <a:cs typeface="Nunito Sans"/>
                <a:sym typeface="Nunito Sans"/>
              </a:rPr>
              <a:t>Quintana</a:t>
            </a:r>
            <a:endParaRPr lang="en-US" sz="4210" dirty="0">
              <a:solidFill>
                <a:schemeClr val="tx2">
                  <a:lumMod val="60000"/>
                  <a:lumOff val="40000"/>
                </a:schemeClr>
              </a:solidFill>
              <a:latin typeface="Nunito Sans"/>
              <a:ea typeface="Nunito Sans"/>
              <a:cs typeface="Nunito Sans"/>
              <a:sym typeface="Nunito Sans"/>
            </a:endParaRPr>
          </a:p>
          <a:p>
            <a:pPr algn="l">
              <a:lnSpc>
                <a:spcPts val="4210"/>
              </a:lnSpc>
            </a:pPr>
            <a:r>
              <a:rPr lang="en-US" sz="4210" dirty="0">
                <a:solidFill>
                  <a:schemeClr val="tx2">
                    <a:lumMod val="60000"/>
                    <a:lumOff val="40000"/>
                  </a:schemeClr>
                </a:solidFill>
                <a:latin typeface="Nunito Sans"/>
                <a:ea typeface="Nunito Sans"/>
                <a:cs typeface="Nunito Sans"/>
                <a:sym typeface="Nunito Sans"/>
              </a:rPr>
              <a:t>Gustavo </a:t>
            </a:r>
            <a:r>
              <a:rPr lang="en-US" sz="4210" dirty="0" err="1">
                <a:solidFill>
                  <a:schemeClr val="tx2">
                    <a:lumMod val="60000"/>
                    <a:lumOff val="40000"/>
                  </a:schemeClr>
                </a:solidFill>
                <a:latin typeface="Nunito Sans"/>
                <a:ea typeface="Nunito Sans"/>
                <a:cs typeface="Nunito Sans"/>
                <a:sym typeface="Nunito Sans"/>
              </a:rPr>
              <a:t>Missawa</a:t>
            </a:r>
            <a:endParaRPr lang="en-US" sz="4210" dirty="0">
              <a:solidFill>
                <a:schemeClr val="tx2">
                  <a:lumMod val="60000"/>
                  <a:lumOff val="40000"/>
                </a:schemeClr>
              </a:solidFill>
              <a:latin typeface="Nunito Sans"/>
              <a:ea typeface="Nunito Sans"/>
              <a:cs typeface="Nunito Sans"/>
              <a:sym typeface="Nunito Sans"/>
            </a:endParaRPr>
          </a:p>
          <a:p>
            <a:pPr algn="l">
              <a:lnSpc>
                <a:spcPts val="4210"/>
              </a:lnSpc>
            </a:pPr>
            <a:r>
              <a:rPr lang="en-US" sz="4210" dirty="0">
                <a:solidFill>
                  <a:schemeClr val="tx2">
                    <a:lumMod val="60000"/>
                    <a:lumOff val="40000"/>
                  </a:schemeClr>
                </a:solidFill>
                <a:latin typeface="Nunito Sans"/>
                <a:ea typeface="Nunito Sans"/>
                <a:cs typeface="Nunito Sans"/>
                <a:sym typeface="Nunito Sans"/>
              </a:rPr>
              <a:t>Matheus Oliveira </a:t>
            </a:r>
            <a:r>
              <a:rPr lang="en-US" sz="4210" dirty="0" err="1">
                <a:solidFill>
                  <a:schemeClr val="tx2">
                    <a:lumMod val="60000"/>
                    <a:lumOff val="40000"/>
                  </a:schemeClr>
                </a:solidFill>
                <a:latin typeface="Nunito Sans"/>
                <a:ea typeface="Nunito Sans"/>
                <a:cs typeface="Nunito Sans"/>
                <a:sym typeface="Nunito Sans"/>
              </a:rPr>
              <a:t>Charias</a:t>
            </a:r>
            <a:r>
              <a:rPr lang="en-US" sz="4210" dirty="0">
                <a:solidFill>
                  <a:schemeClr val="tx2">
                    <a:lumMod val="60000"/>
                    <a:lumOff val="40000"/>
                  </a:schemeClr>
                </a:solidFill>
                <a:latin typeface="Nunito Sans"/>
                <a:ea typeface="Nunito Sans"/>
                <a:cs typeface="Nunito Sans"/>
                <a:sym typeface="Nunito Sans"/>
              </a:rPr>
              <a:t> </a:t>
            </a:r>
          </a:p>
          <a:p>
            <a:pPr algn="l">
              <a:lnSpc>
                <a:spcPts val="4210"/>
              </a:lnSpc>
            </a:pPr>
            <a:r>
              <a:rPr lang="en-US" sz="4210" dirty="0">
                <a:solidFill>
                  <a:schemeClr val="tx2">
                    <a:lumMod val="60000"/>
                    <a:lumOff val="40000"/>
                  </a:schemeClr>
                </a:solidFill>
                <a:latin typeface="Nunito Sans"/>
                <a:ea typeface="Nunito Sans"/>
                <a:cs typeface="Nunito Sans"/>
                <a:sym typeface="Nunito Sans"/>
              </a:rPr>
              <a:t>Raphael Clemente Cavalcanti </a:t>
            </a:r>
          </a:p>
          <a:p>
            <a:pPr marL="0" lvl="0" indent="0" algn="l">
              <a:lnSpc>
                <a:spcPts val="4210"/>
              </a:lnSpc>
            </a:pPr>
            <a:r>
              <a:rPr lang="en-US" sz="4210" dirty="0">
                <a:solidFill>
                  <a:schemeClr val="tx2">
                    <a:lumMod val="60000"/>
                    <a:lumOff val="40000"/>
                  </a:schemeClr>
                </a:solidFill>
                <a:latin typeface="Nunito Sans"/>
                <a:ea typeface="Nunito Sans"/>
                <a:cs typeface="Nunito Sans"/>
                <a:sym typeface="Nunito Sans"/>
              </a:rPr>
              <a:t>Thiago Diniz de Oliveira Conceição 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12607640" y="2974928"/>
            <a:ext cx="3891071" cy="483134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909024" lvl="1" indent="-454512" algn="l">
              <a:lnSpc>
                <a:spcPts val="4210"/>
              </a:lnSpc>
              <a:buFont typeface="Arial"/>
              <a:buChar char="•"/>
            </a:pPr>
            <a:r>
              <a:rPr lang="en-US" sz="4210" dirty="0">
                <a:solidFill>
                  <a:schemeClr val="tx2">
                    <a:lumMod val="60000"/>
                    <a:lumOff val="40000"/>
                  </a:schemeClr>
                </a:solidFill>
                <a:latin typeface="Nunito Sans"/>
                <a:ea typeface="Nunito Sans"/>
                <a:cs typeface="Nunito Sans"/>
                <a:sym typeface="Nunito Sans"/>
              </a:rPr>
              <a:t>824223979</a:t>
            </a:r>
          </a:p>
          <a:p>
            <a:pPr marL="909024" lvl="1" indent="-454512" algn="l">
              <a:lnSpc>
                <a:spcPts val="4210"/>
              </a:lnSpc>
              <a:buFont typeface="Arial"/>
              <a:buChar char="•"/>
            </a:pPr>
            <a:r>
              <a:rPr lang="en-US" sz="4210" dirty="0">
                <a:solidFill>
                  <a:schemeClr val="tx2">
                    <a:lumMod val="60000"/>
                    <a:lumOff val="40000"/>
                  </a:schemeClr>
                </a:solidFill>
                <a:latin typeface="Nunito Sans"/>
                <a:ea typeface="Nunito Sans"/>
                <a:cs typeface="Nunito Sans"/>
                <a:sym typeface="Nunito Sans"/>
              </a:rPr>
              <a:t>824150491</a:t>
            </a:r>
          </a:p>
          <a:p>
            <a:pPr marL="909024" lvl="1" indent="-454512" algn="l">
              <a:lnSpc>
                <a:spcPts val="4210"/>
              </a:lnSpc>
              <a:buFont typeface="Arial"/>
              <a:buChar char="•"/>
            </a:pPr>
            <a:r>
              <a:rPr lang="en-US" sz="4210" dirty="0">
                <a:solidFill>
                  <a:schemeClr val="tx2">
                    <a:lumMod val="60000"/>
                    <a:lumOff val="40000"/>
                  </a:schemeClr>
                </a:solidFill>
                <a:latin typeface="Nunito Sans"/>
                <a:ea typeface="Nunito Sans"/>
                <a:cs typeface="Nunito Sans"/>
                <a:sym typeface="Nunito Sans"/>
              </a:rPr>
              <a:t>824133249</a:t>
            </a:r>
          </a:p>
          <a:p>
            <a:pPr marL="909024" lvl="1" indent="-454512" algn="l">
              <a:lnSpc>
                <a:spcPts val="4210"/>
              </a:lnSpc>
              <a:buFont typeface="Arial"/>
              <a:buChar char="•"/>
            </a:pPr>
            <a:r>
              <a:rPr lang="en-US" sz="4210" dirty="0">
                <a:solidFill>
                  <a:schemeClr val="tx2">
                    <a:lumMod val="60000"/>
                    <a:lumOff val="40000"/>
                  </a:schemeClr>
                </a:solidFill>
                <a:latin typeface="Nunito Sans"/>
                <a:ea typeface="Nunito Sans"/>
                <a:cs typeface="Nunito Sans"/>
                <a:sym typeface="Nunito Sans"/>
              </a:rPr>
              <a:t>824211810</a:t>
            </a:r>
          </a:p>
          <a:p>
            <a:pPr marL="909024" lvl="1" indent="-454512" algn="l">
              <a:lnSpc>
                <a:spcPts val="4210"/>
              </a:lnSpc>
              <a:buFont typeface="Arial"/>
              <a:buChar char="•"/>
            </a:pPr>
            <a:r>
              <a:rPr lang="en-US" sz="4210" dirty="0">
                <a:solidFill>
                  <a:schemeClr val="tx2">
                    <a:lumMod val="60000"/>
                    <a:lumOff val="40000"/>
                  </a:schemeClr>
                </a:solidFill>
                <a:latin typeface="Nunito Sans"/>
                <a:ea typeface="Nunito Sans"/>
                <a:cs typeface="Nunito Sans"/>
                <a:sym typeface="Nunito Sans"/>
              </a:rPr>
              <a:t>824144927</a:t>
            </a:r>
          </a:p>
          <a:p>
            <a:pPr marL="909024" lvl="1" indent="-454512" algn="l">
              <a:lnSpc>
                <a:spcPts val="4210"/>
              </a:lnSpc>
              <a:buFont typeface="Arial"/>
              <a:buChar char="•"/>
            </a:pPr>
            <a:r>
              <a:rPr lang="en-US" sz="4210" dirty="0">
                <a:solidFill>
                  <a:schemeClr val="tx2">
                    <a:lumMod val="60000"/>
                    <a:lumOff val="40000"/>
                  </a:schemeClr>
                </a:solidFill>
                <a:latin typeface="Nunito Sans"/>
                <a:ea typeface="Nunito Sans"/>
                <a:cs typeface="Nunito Sans"/>
                <a:sym typeface="Nunito Sans"/>
              </a:rPr>
              <a:t>824123583</a:t>
            </a:r>
          </a:p>
          <a:p>
            <a:pPr marL="909024" lvl="1" indent="-454512" algn="l">
              <a:lnSpc>
                <a:spcPts val="4210"/>
              </a:lnSpc>
              <a:buFont typeface="Arial"/>
              <a:buChar char="•"/>
            </a:pPr>
            <a:r>
              <a:rPr lang="en-US" sz="4210" dirty="0">
                <a:solidFill>
                  <a:schemeClr val="tx2">
                    <a:lumMod val="60000"/>
                    <a:lumOff val="40000"/>
                  </a:schemeClr>
                </a:solidFill>
                <a:latin typeface="Nunito Sans"/>
                <a:ea typeface="Nunito Sans"/>
                <a:cs typeface="Nunito Sans"/>
                <a:sym typeface="Nunito Sans"/>
              </a:rPr>
              <a:t>824131896</a:t>
            </a:r>
          </a:p>
          <a:p>
            <a:pPr marL="909024" lvl="1" indent="-454512" algn="l">
              <a:lnSpc>
                <a:spcPts val="4210"/>
              </a:lnSpc>
              <a:buFont typeface="Arial"/>
              <a:buChar char="•"/>
            </a:pPr>
            <a:r>
              <a:rPr lang="en-US" sz="4210" dirty="0">
                <a:solidFill>
                  <a:schemeClr val="tx2">
                    <a:lumMod val="60000"/>
                    <a:lumOff val="40000"/>
                  </a:schemeClr>
                </a:solidFill>
                <a:latin typeface="Nunito Sans"/>
                <a:ea typeface="Nunito Sans"/>
                <a:cs typeface="Nunito Sans"/>
                <a:sym typeface="Nunito Sans"/>
              </a:rPr>
              <a:t>823210575</a:t>
            </a:r>
          </a:p>
          <a:p>
            <a:pPr marL="909024" lvl="1" indent="-454512" algn="l">
              <a:lnSpc>
                <a:spcPts val="4210"/>
              </a:lnSpc>
              <a:buFont typeface="Arial"/>
              <a:buChar char="•"/>
            </a:pPr>
            <a:r>
              <a:rPr lang="en-US" sz="4210" dirty="0">
                <a:solidFill>
                  <a:schemeClr val="tx2">
                    <a:lumMod val="60000"/>
                    <a:lumOff val="40000"/>
                  </a:schemeClr>
                </a:solidFill>
                <a:latin typeface="Nunito Sans"/>
                <a:ea typeface="Nunito Sans"/>
                <a:cs typeface="Nunito Sans"/>
                <a:sym typeface="Nunito Sans"/>
              </a:rPr>
              <a:t>823164408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EBE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2369192">
            <a:off x="15009744" y="7314711"/>
            <a:ext cx="4669706" cy="4669706"/>
            <a:chOff x="0" y="0"/>
            <a:chExt cx="812800" cy="8128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85725" cap="sq">
              <a:solidFill>
                <a:srgbClr val="5170FF"/>
              </a:solidFill>
              <a:prstDash val="solid"/>
              <a:miter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76200" y="95250"/>
              <a:ext cx="660400" cy="641350"/>
            </a:xfrm>
            <a:prstGeom prst="rect">
              <a:avLst/>
            </a:prstGeom>
          </p:spPr>
          <p:txBody>
            <a:bodyPr lIns="47505" tIns="47505" rIns="47505" bIns="47505" rtlCol="0" anchor="ctr"/>
            <a:lstStyle/>
            <a:p>
              <a:pPr marL="0" lvl="0" indent="0" algn="ctr">
                <a:lnSpc>
                  <a:spcPts val="2642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 rot="2369192">
            <a:off x="11880265" y="8589584"/>
            <a:ext cx="4669706" cy="4669706"/>
            <a:chOff x="0" y="0"/>
            <a:chExt cx="812800" cy="8128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85725" cap="sq">
              <a:solidFill>
                <a:srgbClr val="FFFFFF"/>
              </a:solidFill>
              <a:prstDash val="solid"/>
              <a:miter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76200" y="95250"/>
              <a:ext cx="660400" cy="641350"/>
            </a:xfrm>
            <a:prstGeom prst="rect">
              <a:avLst/>
            </a:prstGeom>
          </p:spPr>
          <p:txBody>
            <a:bodyPr lIns="47505" tIns="47505" rIns="47505" bIns="47505" rtlCol="0" anchor="ctr"/>
            <a:lstStyle/>
            <a:p>
              <a:pPr marL="0" lvl="0" indent="0" algn="ctr">
                <a:lnSpc>
                  <a:spcPts val="2642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 rot="2369192">
            <a:off x="776162" y="-2093120"/>
            <a:ext cx="4669706" cy="4669706"/>
            <a:chOff x="0" y="0"/>
            <a:chExt cx="812800" cy="81280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85725" cap="sq">
              <a:solidFill>
                <a:srgbClr val="5170FF"/>
              </a:solidFill>
              <a:prstDash val="solid"/>
              <a:miter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76200" y="95250"/>
              <a:ext cx="660400" cy="641350"/>
            </a:xfrm>
            <a:prstGeom prst="rect">
              <a:avLst/>
            </a:prstGeom>
          </p:spPr>
          <p:txBody>
            <a:bodyPr lIns="47505" tIns="47505" rIns="47505" bIns="47505" rtlCol="0" anchor="ctr"/>
            <a:lstStyle/>
            <a:p>
              <a:pPr marL="0" lvl="0" indent="0" algn="ctr">
                <a:lnSpc>
                  <a:spcPts val="2642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11" name="Group 11"/>
          <p:cNvGrpSpPr/>
          <p:nvPr/>
        </p:nvGrpSpPr>
        <p:grpSpPr>
          <a:xfrm rot="2369192">
            <a:off x="-2353317" y="-818247"/>
            <a:ext cx="4669706" cy="4669706"/>
            <a:chOff x="0" y="0"/>
            <a:chExt cx="812800" cy="81280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85725" cap="sq">
              <a:solidFill>
                <a:srgbClr val="FFFFFF"/>
              </a:solidFill>
              <a:prstDash val="solid"/>
              <a:miter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76200" y="95250"/>
              <a:ext cx="660400" cy="641350"/>
            </a:xfrm>
            <a:prstGeom prst="rect">
              <a:avLst/>
            </a:prstGeom>
          </p:spPr>
          <p:txBody>
            <a:bodyPr lIns="47505" tIns="47505" rIns="47505" bIns="47505" rtlCol="0" anchor="ctr"/>
            <a:lstStyle/>
            <a:p>
              <a:pPr marL="0" lvl="0" indent="0" algn="ctr">
                <a:lnSpc>
                  <a:spcPts val="2642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4" name="TextBox 14"/>
          <p:cNvSpPr txBox="1"/>
          <p:nvPr/>
        </p:nvSpPr>
        <p:spPr>
          <a:xfrm>
            <a:off x="4167091" y="3628234"/>
            <a:ext cx="9953818" cy="127746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918"/>
              </a:lnSpc>
            </a:pPr>
            <a:r>
              <a:rPr lang="en-US" sz="4918" b="1">
                <a:solidFill>
                  <a:srgbClr val="837E7B"/>
                </a:solidFill>
                <a:latin typeface="Nunito Sans Medium"/>
                <a:ea typeface="Nunito Sans Medium"/>
                <a:cs typeface="Nunito Sans Medium"/>
                <a:sym typeface="Nunito Sans Medium"/>
              </a:rPr>
              <a:t>A sua gestão de</a:t>
            </a:r>
          </a:p>
          <a:p>
            <a:pPr marL="0" lvl="0" indent="0" algn="ctr">
              <a:lnSpc>
                <a:spcPts val="4918"/>
              </a:lnSpc>
            </a:pPr>
            <a:r>
              <a:rPr lang="en-US" sz="4918" b="1">
                <a:solidFill>
                  <a:srgbClr val="837E7B"/>
                </a:solidFill>
                <a:latin typeface="Nunito Sans Medium"/>
                <a:ea typeface="Nunito Sans Medium"/>
                <a:cs typeface="Nunito Sans Medium"/>
                <a:sym typeface="Nunito Sans Medium"/>
              </a:rPr>
              <a:t>investimento nunca mais será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3541056" y="4995579"/>
            <a:ext cx="11205887" cy="15247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10761"/>
              </a:lnSpc>
            </a:pPr>
            <a:r>
              <a:rPr lang="en-US" sz="13285" b="1">
                <a:solidFill>
                  <a:srgbClr val="004AAD"/>
                </a:solidFill>
                <a:latin typeface="Nunito Sans Heavy"/>
                <a:ea typeface="Nunito Sans Heavy"/>
                <a:cs typeface="Nunito Sans Heavy"/>
                <a:sym typeface="Nunito Sans Heavy"/>
              </a:rPr>
              <a:t>a mesma!</a:t>
            </a:r>
          </a:p>
        </p:txBody>
      </p:sp>
      <p:grpSp>
        <p:nvGrpSpPr>
          <p:cNvPr id="16" name="Group 16"/>
          <p:cNvGrpSpPr/>
          <p:nvPr/>
        </p:nvGrpSpPr>
        <p:grpSpPr>
          <a:xfrm>
            <a:off x="-1969251" y="-378173"/>
            <a:ext cx="20613547" cy="10649068"/>
            <a:chOff x="0" y="0"/>
            <a:chExt cx="5429082" cy="2804693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5429082" cy="2804693"/>
            </a:xfrm>
            <a:custGeom>
              <a:avLst/>
              <a:gdLst/>
              <a:ahLst/>
              <a:cxnLst/>
              <a:rect l="l" t="t" r="r" b="b"/>
              <a:pathLst>
                <a:path w="5429082" h="2804693">
                  <a:moveTo>
                    <a:pt x="19154" y="0"/>
                  </a:moveTo>
                  <a:lnTo>
                    <a:pt x="5409928" y="0"/>
                  </a:lnTo>
                  <a:cubicBezTo>
                    <a:pt x="5420506" y="0"/>
                    <a:pt x="5429082" y="8576"/>
                    <a:pt x="5429082" y="19154"/>
                  </a:cubicBezTo>
                  <a:lnTo>
                    <a:pt x="5429082" y="2785539"/>
                  </a:lnTo>
                  <a:cubicBezTo>
                    <a:pt x="5429082" y="2796117"/>
                    <a:pt x="5420506" y="2804693"/>
                    <a:pt x="5409928" y="2804693"/>
                  </a:cubicBezTo>
                  <a:lnTo>
                    <a:pt x="19154" y="2804693"/>
                  </a:lnTo>
                  <a:cubicBezTo>
                    <a:pt x="8576" y="2804693"/>
                    <a:pt x="0" y="2796117"/>
                    <a:pt x="0" y="2785539"/>
                  </a:cubicBezTo>
                  <a:lnTo>
                    <a:pt x="0" y="19154"/>
                  </a:lnTo>
                  <a:cubicBezTo>
                    <a:pt x="0" y="8576"/>
                    <a:pt x="8576" y="0"/>
                    <a:pt x="19154" y="0"/>
                  </a:cubicBezTo>
                  <a:close/>
                </a:path>
              </a:pathLst>
            </a:custGeom>
            <a:solidFill>
              <a:srgbClr val="D9D9D9">
                <a:alpha val="46667"/>
              </a:srgbClr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0" y="19050"/>
              <a:ext cx="5429082" cy="278564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42"/>
                </a:lnSpc>
              </a:pPr>
              <a:endParaRPr/>
            </a:p>
          </p:txBody>
        </p:sp>
      </p:grp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EBE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4770329" y="4584547"/>
            <a:ext cx="9953818" cy="12775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4918"/>
              </a:lnSpc>
            </a:pPr>
            <a:r>
              <a:rPr lang="en-US" sz="4918" b="1">
                <a:solidFill>
                  <a:srgbClr val="7189C2"/>
                </a:solidFill>
                <a:latin typeface="Nunito Sans Bold"/>
                <a:ea typeface="Nunito Sans Bold"/>
                <a:cs typeface="Nunito Sans Bold"/>
                <a:sym typeface="Nunito Sans Bold"/>
              </a:rPr>
              <a:t>Vamos conhecer nossa interface?</a:t>
            </a:r>
          </a:p>
        </p:txBody>
      </p:sp>
      <p:sp>
        <p:nvSpPr>
          <p:cNvPr id="3" name="Freeform 3"/>
          <p:cNvSpPr/>
          <p:nvPr/>
        </p:nvSpPr>
        <p:spPr>
          <a:xfrm flipV="1">
            <a:off x="-1037319" y="-1645125"/>
            <a:ext cx="5933796" cy="5944604"/>
          </a:xfrm>
          <a:custGeom>
            <a:avLst/>
            <a:gdLst/>
            <a:ahLst/>
            <a:cxnLst/>
            <a:rect l="l" t="t" r="r" b="b"/>
            <a:pathLst>
              <a:path w="5933796" h="5944604">
                <a:moveTo>
                  <a:pt x="0" y="5944604"/>
                </a:moveTo>
                <a:lnTo>
                  <a:pt x="5933795" y="5944604"/>
                </a:lnTo>
                <a:lnTo>
                  <a:pt x="5933795" y="0"/>
                </a:lnTo>
                <a:lnTo>
                  <a:pt x="0" y="0"/>
                </a:lnTo>
                <a:lnTo>
                  <a:pt x="0" y="5944604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sp>
        <p:nvSpPr>
          <p:cNvPr id="4" name="Freeform 4"/>
          <p:cNvSpPr/>
          <p:nvPr/>
        </p:nvSpPr>
        <p:spPr>
          <a:xfrm flipV="1">
            <a:off x="13680367" y="5756890"/>
            <a:ext cx="5933796" cy="5944604"/>
          </a:xfrm>
          <a:custGeom>
            <a:avLst/>
            <a:gdLst/>
            <a:ahLst/>
            <a:cxnLst/>
            <a:rect l="l" t="t" r="r" b="b"/>
            <a:pathLst>
              <a:path w="5933796" h="5944604">
                <a:moveTo>
                  <a:pt x="0" y="5944605"/>
                </a:moveTo>
                <a:lnTo>
                  <a:pt x="5933796" y="5944605"/>
                </a:lnTo>
                <a:lnTo>
                  <a:pt x="5933796" y="0"/>
                </a:lnTo>
                <a:lnTo>
                  <a:pt x="0" y="0"/>
                </a:lnTo>
                <a:lnTo>
                  <a:pt x="0" y="5944605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EBE9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FF0D4FA-D8F4-CA27-A9F0-191F84C1D7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6485C005-0B77-0318-D857-816F28C6B47C}"/>
              </a:ext>
            </a:extLst>
          </p:cNvPr>
          <p:cNvSpPr/>
          <p:nvPr/>
        </p:nvSpPr>
        <p:spPr>
          <a:xfrm flipV="1">
            <a:off x="12723016" y="-1727011"/>
            <a:ext cx="5933796" cy="5944604"/>
          </a:xfrm>
          <a:custGeom>
            <a:avLst/>
            <a:gdLst/>
            <a:ahLst/>
            <a:cxnLst/>
            <a:rect l="l" t="t" r="r" b="b"/>
            <a:pathLst>
              <a:path w="5933796" h="5944604">
                <a:moveTo>
                  <a:pt x="0" y="5944604"/>
                </a:moveTo>
                <a:lnTo>
                  <a:pt x="5933796" y="5944604"/>
                </a:lnTo>
                <a:lnTo>
                  <a:pt x="5933796" y="0"/>
                </a:lnTo>
                <a:lnTo>
                  <a:pt x="0" y="0"/>
                </a:lnTo>
                <a:lnTo>
                  <a:pt x="0" y="5944604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sp>
        <p:nvSpPr>
          <p:cNvPr id="3" name="Freeform 3">
            <a:extLst>
              <a:ext uri="{FF2B5EF4-FFF2-40B4-BE49-F238E27FC236}">
                <a16:creationId xmlns:a16="http://schemas.microsoft.com/office/drawing/2014/main" id="{3AED580B-A467-D288-F87B-AA2E701A931C}"/>
              </a:ext>
            </a:extLst>
          </p:cNvPr>
          <p:cNvSpPr/>
          <p:nvPr/>
        </p:nvSpPr>
        <p:spPr>
          <a:xfrm flipV="1">
            <a:off x="-202895" y="6665749"/>
            <a:ext cx="5099372" cy="5108660"/>
          </a:xfrm>
          <a:custGeom>
            <a:avLst/>
            <a:gdLst/>
            <a:ahLst/>
            <a:cxnLst/>
            <a:rect l="l" t="t" r="r" b="b"/>
            <a:pathLst>
              <a:path w="5099372" h="5108660">
                <a:moveTo>
                  <a:pt x="0" y="5108660"/>
                </a:moveTo>
                <a:lnTo>
                  <a:pt x="5099371" y="5108660"/>
                </a:lnTo>
                <a:lnTo>
                  <a:pt x="5099371" y="0"/>
                </a:lnTo>
                <a:lnTo>
                  <a:pt x="0" y="0"/>
                </a:lnTo>
                <a:lnTo>
                  <a:pt x="0" y="510866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sp>
        <p:nvSpPr>
          <p:cNvPr id="4" name="Freeform 4">
            <a:extLst>
              <a:ext uri="{FF2B5EF4-FFF2-40B4-BE49-F238E27FC236}">
                <a16:creationId xmlns:a16="http://schemas.microsoft.com/office/drawing/2014/main" id="{B04876D5-DB19-FAB4-D05E-0FBFE9B3E002}"/>
              </a:ext>
            </a:extLst>
          </p:cNvPr>
          <p:cNvSpPr/>
          <p:nvPr/>
        </p:nvSpPr>
        <p:spPr>
          <a:xfrm>
            <a:off x="2533668" y="6665749"/>
            <a:ext cx="5010340" cy="5010340"/>
          </a:xfrm>
          <a:custGeom>
            <a:avLst/>
            <a:gdLst/>
            <a:ahLst/>
            <a:cxnLst/>
            <a:rect l="l" t="t" r="r" b="b"/>
            <a:pathLst>
              <a:path w="5010340" h="5010340">
                <a:moveTo>
                  <a:pt x="0" y="0"/>
                </a:moveTo>
                <a:lnTo>
                  <a:pt x="5010340" y="0"/>
                </a:lnTo>
                <a:lnTo>
                  <a:pt x="5010340" y="5010340"/>
                </a:lnTo>
                <a:lnTo>
                  <a:pt x="0" y="501034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58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grpSp>
        <p:nvGrpSpPr>
          <p:cNvPr id="5" name="Group 5">
            <a:extLst>
              <a:ext uri="{FF2B5EF4-FFF2-40B4-BE49-F238E27FC236}">
                <a16:creationId xmlns:a16="http://schemas.microsoft.com/office/drawing/2014/main" id="{5EBCB6E4-00B7-9341-933C-2DFA72C156FA}"/>
              </a:ext>
            </a:extLst>
          </p:cNvPr>
          <p:cNvGrpSpPr/>
          <p:nvPr/>
        </p:nvGrpSpPr>
        <p:grpSpPr>
          <a:xfrm>
            <a:off x="-730068" y="-2312111"/>
            <a:ext cx="4526045" cy="4526045"/>
            <a:chOff x="0" y="0"/>
            <a:chExt cx="812800" cy="812800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BBDCE330-165C-7181-994F-9CBD16D6BCFC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57150" cap="sq">
              <a:solidFill>
                <a:srgbClr val="0B0B0B">
                  <a:alpha val="24706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9C4AAE9C-D556-1D6D-5810-7FF5C9A36305}"/>
                </a:ext>
              </a:extLst>
            </p:cNvPr>
            <p:cNvSpPr txBox="1"/>
            <p:nvPr/>
          </p:nvSpPr>
          <p:spPr>
            <a:xfrm>
              <a:off x="76200" y="76200"/>
              <a:ext cx="660400" cy="660400"/>
            </a:xfrm>
            <a:prstGeom prst="rect">
              <a:avLst/>
            </a:prstGeom>
          </p:spPr>
          <p:txBody>
            <a:bodyPr lIns="28575" tIns="28575" rIns="28575" bIns="28575" rtlCol="0" anchor="ctr"/>
            <a:lstStyle/>
            <a:p>
              <a:pPr algn="ctr">
                <a:lnSpc>
                  <a:spcPts val="1589"/>
                </a:lnSpc>
              </a:pPr>
              <a:endParaRPr/>
            </a:p>
          </p:txBody>
        </p:sp>
      </p:grpSp>
      <p:grpSp>
        <p:nvGrpSpPr>
          <p:cNvPr id="8" name="Group 8">
            <a:extLst>
              <a:ext uri="{FF2B5EF4-FFF2-40B4-BE49-F238E27FC236}">
                <a16:creationId xmlns:a16="http://schemas.microsoft.com/office/drawing/2014/main" id="{6652EBCE-F116-50E5-0093-52784AB09214}"/>
              </a:ext>
            </a:extLst>
          </p:cNvPr>
          <p:cNvGrpSpPr/>
          <p:nvPr/>
        </p:nvGrpSpPr>
        <p:grpSpPr>
          <a:xfrm>
            <a:off x="-2272028" y="881713"/>
            <a:ext cx="4526045" cy="4526045"/>
            <a:chOff x="0" y="0"/>
            <a:chExt cx="812800" cy="812800"/>
          </a:xfrm>
        </p:grpSpPr>
        <p:sp>
          <p:nvSpPr>
            <p:cNvPr id="9" name="Freeform 9">
              <a:extLst>
                <a:ext uri="{FF2B5EF4-FFF2-40B4-BE49-F238E27FC236}">
                  <a16:creationId xmlns:a16="http://schemas.microsoft.com/office/drawing/2014/main" id="{915718E7-155E-0085-D91F-6B50B6DC8FB0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57150" cap="sq">
              <a:solidFill>
                <a:srgbClr val="837E7B">
                  <a:alpha val="24706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10" name="TextBox 10">
              <a:extLst>
                <a:ext uri="{FF2B5EF4-FFF2-40B4-BE49-F238E27FC236}">
                  <a16:creationId xmlns:a16="http://schemas.microsoft.com/office/drawing/2014/main" id="{A64D850E-557A-DDA7-732A-440DCEB7BBD8}"/>
                </a:ext>
              </a:extLst>
            </p:cNvPr>
            <p:cNvSpPr txBox="1"/>
            <p:nvPr/>
          </p:nvSpPr>
          <p:spPr>
            <a:xfrm>
              <a:off x="76200" y="76200"/>
              <a:ext cx="660400" cy="660400"/>
            </a:xfrm>
            <a:prstGeom prst="rect">
              <a:avLst/>
            </a:prstGeom>
          </p:spPr>
          <p:txBody>
            <a:bodyPr lIns="28575" tIns="28575" rIns="28575" bIns="28575" rtlCol="0" anchor="ctr"/>
            <a:lstStyle/>
            <a:p>
              <a:pPr algn="ctr">
                <a:lnSpc>
                  <a:spcPts val="1589"/>
                </a:lnSpc>
              </a:pPr>
              <a:endParaRPr/>
            </a:p>
          </p:txBody>
        </p:sp>
      </p:grpSp>
      <p:sp>
        <p:nvSpPr>
          <p:cNvPr id="11" name="Freeform 11">
            <a:extLst>
              <a:ext uri="{FF2B5EF4-FFF2-40B4-BE49-F238E27FC236}">
                <a16:creationId xmlns:a16="http://schemas.microsoft.com/office/drawing/2014/main" id="{0A00E6F5-0ADE-3CC6-559D-F45F06FC70F5}"/>
              </a:ext>
            </a:extLst>
          </p:cNvPr>
          <p:cNvSpPr/>
          <p:nvPr/>
        </p:nvSpPr>
        <p:spPr>
          <a:xfrm>
            <a:off x="11840783" y="1507138"/>
            <a:ext cx="5010340" cy="5010340"/>
          </a:xfrm>
          <a:custGeom>
            <a:avLst/>
            <a:gdLst/>
            <a:ahLst/>
            <a:cxnLst/>
            <a:rect l="l" t="t" r="r" b="b"/>
            <a:pathLst>
              <a:path w="5010340" h="5010340">
                <a:moveTo>
                  <a:pt x="0" y="0"/>
                </a:moveTo>
                <a:lnTo>
                  <a:pt x="5010340" y="0"/>
                </a:lnTo>
                <a:lnTo>
                  <a:pt x="5010340" y="5010340"/>
                </a:lnTo>
                <a:lnTo>
                  <a:pt x="0" y="501034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58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sp>
        <p:nvSpPr>
          <p:cNvPr id="12" name="TextBox 12">
            <a:extLst>
              <a:ext uri="{FF2B5EF4-FFF2-40B4-BE49-F238E27FC236}">
                <a16:creationId xmlns:a16="http://schemas.microsoft.com/office/drawing/2014/main" id="{E833F99C-FC6F-B566-C4C0-4CC1C14BE126}"/>
              </a:ext>
            </a:extLst>
          </p:cNvPr>
          <p:cNvSpPr txBox="1"/>
          <p:nvPr/>
        </p:nvSpPr>
        <p:spPr>
          <a:xfrm>
            <a:off x="631881" y="867376"/>
            <a:ext cx="8529191" cy="110594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just">
              <a:lnSpc>
                <a:spcPts val="4106"/>
              </a:lnSpc>
              <a:spcBef>
                <a:spcPct val="0"/>
              </a:spcBef>
            </a:pPr>
            <a:r>
              <a:rPr lang="en-US" sz="4831" b="1" dirty="0" err="1">
                <a:solidFill>
                  <a:srgbClr val="7189C2"/>
                </a:solidFill>
                <a:latin typeface="Nunito Sans Medium"/>
                <a:ea typeface="Nunito Sans Medium"/>
                <a:cs typeface="Nunito Sans Medium"/>
                <a:sym typeface="Nunito Sans Medium"/>
              </a:rPr>
              <a:t>Acesse</a:t>
            </a:r>
            <a:r>
              <a:rPr lang="en-US" sz="4831" b="1" dirty="0">
                <a:solidFill>
                  <a:srgbClr val="7189C2"/>
                </a:solidFill>
                <a:latin typeface="Nunito Sans Medium"/>
                <a:ea typeface="Nunito Sans Medium"/>
                <a:cs typeface="Nunito Sans Medium"/>
                <a:sym typeface="Nunito Sans Medium"/>
              </a:rPr>
              <a:t> </a:t>
            </a:r>
            <a:r>
              <a:rPr lang="en-US" sz="4831" b="1" dirty="0" err="1">
                <a:solidFill>
                  <a:srgbClr val="7189C2"/>
                </a:solidFill>
                <a:latin typeface="Nunito Sans Medium"/>
                <a:ea typeface="Nunito Sans Medium"/>
                <a:cs typeface="Nunito Sans Medium"/>
                <a:sym typeface="Nunito Sans Medium"/>
              </a:rPr>
              <a:t>sua</a:t>
            </a:r>
            <a:r>
              <a:rPr lang="en-US" sz="4831" b="1" dirty="0">
                <a:solidFill>
                  <a:srgbClr val="7189C2"/>
                </a:solidFill>
                <a:latin typeface="Nunito Sans Medium"/>
                <a:ea typeface="Nunito Sans Medium"/>
                <a:cs typeface="Nunito Sans Medium"/>
                <a:sym typeface="Nunito Sans Medium"/>
              </a:rPr>
              <a:t> </a:t>
            </a:r>
            <a:r>
              <a:rPr lang="en-US" sz="4831" b="1" dirty="0" err="1">
                <a:solidFill>
                  <a:srgbClr val="7189C2"/>
                </a:solidFill>
                <a:latin typeface="Nunito Sans Medium"/>
                <a:ea typeface="Nunito Sans Medium"/>
                <a:cs typeface="Nunito Sans Medium"/>
                <a:sym typeface="Nunito Sans Medium"/>
              </a:rPr>
              <a:t>conta</a:t>
            </a:r>
            <a:r>
              <a:rPr lang="en-US" sz="4831" b="1" dirty="0">
                <a:solidFill>
                  <a:srgbClr val="7189C2"/>
                </a:solidFill>
                <a:latin typeface="Nunito Sans Medium"/>
                <a:ea typeface="Nunito Sans Medium"/>
                <a:cs typeface="Nunito Sans Medium"/>
                <a:sym typeface="Nunito Sans Medium"/>
              </a:rPr>
              <a:t> </a:t>
            </a:r>
            <a:r>
              <a:rPr lang="en-US" sz="4831" b="1" dirty="0" err="1">
                <a:solidFill>
                  <a:srgbClr val="7189C2"/>
                </a:solidFill>
                <a:latin typeface="Nunito Sans Medium"/>
                <a:ea typeface="Nunito Sans Medium"/>
                <a:cs typeface="Nunito Sans Medium"/>
                <a:sym typeface="Nunito Sans Medium"/>
              </a:rPr>
              <a:t>ou</a:t>
            </a:r>
            <a:r>
              <a:rPr lang="en-US" sz="4831" b="1" dirty="0">
                <a:solidFill>
                  <a:srgbClr val="7189C2"/>
                </a:solidFill>
                <a:latin typeface="Nunito Sans Medium"/>
                <a:ea typeface="Nunito Sans Medium"/>
                <a:cs typeface="Nunito Sans Medium"/>
                <a:sym typeface="Nunito Sans Medium"/>
              </a:rPr>
              <a:t> </a:t>
            </a:r>
            <a:r>
              <a:rPr lang="en-US" sz="4831" b="1" dirty="0" err="1">
                <a:solidFill>
                  <a:srgbClr val="7189C2"/>
                </a:solidFill>
                <a:latin typeface="Nunito Sans Medium"/>
                <a:ea typeface="Nunito Sans Medium"/>
                <a:cs typeface="Nunito Sans Medium"/>
                <a:sym typeface="Nunito Sans Medium"/>
              </a:rPr>
              <a:t>crie</a:t>
            </a:r>
            <a:r>
              <a:rPr lang="en-US" sz="4831" b="1" dirty="0">
                <a:solidFill>
                  <a:srgbClr val="7189C2"/>
                </a:solidFill>
                <a:latin typeface="Nunito Sans Medium"/>
                <a:ea typeface="Nunito Sans Medium"/>
                <a:cs typeface="Nunito Sans Medium"/>
                <a:sym typeface="Nunito Sans Medium"/>
              </a:rPr>
              <a:t> </a:t>
            </a:r>
            <a:r>
              <a:rPr lang="en-US" sz="4831" b="1" dirty="0" err="1">
                <a:solidFill>
                  <a:srgbClr val="7189C2"/>
                </a:solidFill>
                <a:latin typeface="Nunito Sans Medium"/>
                <a:ea typeface="Nunito Sans Medium"/>
                <a:cs typeface="Nunito Sans Medium"/>
                <a:sym typeface="Nunito Sans Medium"/>
              </a:rPr>
              <a:t>uma</a:t>
            </a:r>
            <a:r>
              <a:rPr lang="en-US" sz="4831" b="1" dirty="0">
                <a:solidFill>
                  <a:srgbClr val="7189C2"/>
                </a:solidFill>
                <a:latin typeface="Nunito Sans Medium"/>
                <a:ea typeface="Nunito Sans Medium"/>
                <a:cs typeface="Nunito Sans Medium"/>
                <a:sym typeface="Nunito Sans Medium"/>
              </a:rPr>
              <a:t>!</a:t>
            </a:r>
          </a:p>
        </p:txBody>
      </p:sp>
      <p:sp>
        <p:nvSpPr>
          <p:cNvPr id="13" name="TextBox 13">
            <a:extLst>
              <a:ext uri="{FF2B5EF4-FFF2-40B4-BE49-F238E27FC236}">
                <a16:creationId xmlns:a16="http://schemas.microsoft.com/office/drawing/2014/main" id="{028F7DF4-860B-C73B-C2E7-3A7FCDF99607}"/>
              </a:ext>
            </a:extLst>
          </p:cNvPr>
          <p:cNvSpPr txBox="1"/>
          <p:nvPr/>
        </p:nvSpPr>
        <p:spPr>
          <a:xfrm rot="5400000">
            <a:off x="10484720" y="9275809"/>
            <a:ext cx="3473054" cy="4303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027"/>
              </a:lnSpc>
            </a:pPr>
            <a:r>
              <a:rPr lang="en-US" sz="3784" spc="140" dirty="0">
                <a:solidFill>
                  <a:srgbClr val="7189C2"/>
                </a:solidFill>
                <a:latin typeface="Nunito Sans"/>
                <a:ea typeface="Nunito Sans"/>
                <a:cs typeface="Nunito Sans"/>
                <a:sym typeface="Nunito Sans"/>
              </a:rPr>
              <a:t>LOGIN</a:t>
            </a:r>
          </a:p>
        </p:txBody>
      </p:sp>
      <p:sp>
        <p:nvSpPr>
          <p:cNvPr id="14" name="Freeform 14">
            <a:extLst>
              <a:ext uri="{FF2B5EF4-FFF2-40B4-BE49-F238E27FC236}">
                <a16:creationId xmlns:a16="http://schemas.microsoft.com/office/drawing/2014/main" id="{CB9DF16A-3E76-28BA-2CD7-2EB22E789C76}"/>
              </a:ext>
            </a:extLst>
          </p:cNvPr>
          <p:cNvSpPr/>
          <p:nvPr/>
        </p:nvSpPr>
        <p:spPr>
          <a:xfrm rot="5400000">
            <a:off x="11714940" y="6587095"/>
            <a:ext cx="1221218" cy="1081985"/>
          </a:xfrm>
          <a:custGeom>
            <a:avLst/>
            <a:gdLst/>
            <a:ahLst/>
            <a:cxnLst/>
            <a:rect l="l" t="t" r="r" b="b"/>
            <a:pathLst>
              <a:path w="1221218" h="1081985">
                <a:moveTo>
                  <a:pt x="0" y="0"/>
                </a:moveTo>
                <a:lnTo>
                  <a:pt x="1221219" y="0"/>
                </a:lnTo>
                <a:lnTo>
                  <a:pt x="1221219" y="1081985"/>
                </a:lnTo>
                <a:lnTo>
                  <a:pt x="0" y="108198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121577" t="-29090" r="-117623" b="-80041"/>
            </a:stretch>
          </a:blipFill>
        </p:spPr>
        <p:txBody>
          <a:bodyPr/>
          <a:lstStyle/>
          <a:p>
            <a:endParaRPr lang="pt-BR"/>
          </a:p>
        </p:txBody>
      </p:sp>
      <p:sp>
        <p:nvSpPr>
          <p:cNvPr id="15" name="Freeform 15">
            <a:extLst>
              <a:ext uri="{FF2B5EF4-FFF2-40B4-BE49-F238E27FC236}">
                <a16:creationId xmlns:a16="http://schemas.microsoft.com/office/drawing/2014/main" id="{C2681D09-D93E-4427-AB12-E0CBED8843CE}"/>
              </a:ext>
            </a:extLst>
          </p:cNvPr>
          <p:cNvSpPr/>
          <p:nvPr/>
        </p:nvSpPr>
        <p:spPr>
          <a:xfrm>
            <a:off x="13070400" y="4039522"/>
            <a:ext cx="2753480" cy="2753480"/>
          </a:xfrm>
          <a:custGeom>
            <a:avLst/>
            <a:gdLst/>
            <a:ahLst/>
            <a:cxnLst/>
            <a:rect l="l" t="t" r="r" b="b"/>
            <a:pathLst>
              <a:path w="2753480" h="2753480">
                <a:moveTo>
                  <a:pt x="0" y="0"/>
                </a:moveTo>
                <a:lnTo>
                  <a:pt x="2753480" y="0"/>
                </a:lnTo>
                <a:lnTo>
                  <a:pt x="2753480" y="2753480"/>
                </a:lnTo>
                <a:lnTo>
                  <a:pt x="0" y="275348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58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pic>
        <p:nvPicPr>
          <p:cNvPr id="18" name="Imagem 17">
            <a:extLst>
              <a:ext uri="{FF2B5EF4-FFF2-40B4-BE49-F238E27FC236}">
                <a16:creationId xmlns:a16="http://schemas.microsoft.com/office/drawing/2014/main" id="{21BE6CCD-FFAF-58C4-67A3-4643980A4ED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32899" y="1948904"/>
            <a:ext cx="5904026" cy="76141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5145361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EBE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flipV="1">
            <a:off x="12723016" y="-1727011"/>
            <a:ext cx="5933796" cy="5944604"/>
          </a:xfrm>
          <a:custGeom>
            <a:avLst/>
            <a:gdLst/>
            <a:ahLst/>
            <a:cxnLst/>
            <a:rect l="l" t="t" r="r" b="b"/>
            <a:pathLst>
              <a:path w="5933796" h="5944604">
                <a:moveTo>
                  <a:pt x="0" y="5944604"/>
                </a:moveTo>
                <a:lnTo>
                  <a:pt x="5933796" y="5944604"/>
                </a:lnTo>
                <a:lnTo>
                  <a:pt x="5933796" y="0"/>
                </a:lnTo>
                <a:lnTo>
                  <a:pt x="0" y="0"/>
                </a:lnTo>
                <a:lnTo>
                  <a:pt x="0" y="5944604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sp>
        <p:nvSpPr>
          <p:cNvPr id="3" name="Freeform 3"/>
          <p:cNvSpPr/>
          <p:nvPr/>
        </p:nvSpPr>
        <p:spPr>
          <a:xfrm flipV="1">
            <a:off x="-202895" y="6665749"/>
            <a:ext cx="5099372" cy="5108660"/>
          </a:xfrm>
          <a:custGeom>
            <a:avLst/>
            <a:gdLst/>
            <a:ahLst/>
            <a:cxnLst/>
            <a:rect l="l" t="t" r="r" b="b"/>
            <a:pathLst>
              <a:path w="5099372" h="5108660">
                <a:moveTo>
                  <a:pt x="0" y="5108660"/>
                </a:moveTo>
                <a:lnTo>
                  <a:pt x="5099371" y="5108660"/>
                </a:lnTo>
                <a:lnTo>
                  <a:pt x="5099371" y="0"/>
                </a:lnTo>
                <a:lnTo>
                  <a:pt x="0" y="0"/>
                </a:lnTo>
                <a:lnTo>
                  <a:pt x="0" y="510866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sp>
        <p:nvSpPr>
          <p:cNvPr id="4" name="Freeform 4"/>
          <p:cNvSpPr/>
          <p:nvPr/>
        </p:nvSpPr>
        <p:spPr>
          <a:xfrm>
            <a:off x="2533668" y="6665749"/>
            <a:ext cx="5010340" cy="5010340"/>
          </a:xfrm>
          <a:custGeom>
            <a:avLst/>
            <a:gdLst/>
            <a:ahLst/>
            <a:cxnLst/>
            <a:rect l="l" t="t" r="r" b="b"/>
            <a:pathLst>
              <a:path w="5010340" h="5010340">
                <a:moveTo>
                  <a:pt x="0" y="0"/>
                </a:moveTo>
                <a:lnTo>
                  <a:pt x="5010340" y="0"/>
                </a:lnTo>
                <a:lnTo>
                  <a:pt x="5010340" y="5010340"/>
                </a:lnTo>
                <a:lnTo>
                  <a:pt x="0" y="501034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58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grpSp>
        <p:nvGrpSpPr>
          <p:cNvPr id="5" name="Group 5"/>
          <p:cNvGrpSpPr/>
          <p:nvPr/>
        </p:nvGrpSpPr>
        <p:grpSpPr>
          <a:xfrm>
            <a:off x="-730068" y="-2312111"/>
            <a:ext cx="4526045" cy="4526045"/>
            <a:chOff x="0" y="0"/>
            <a:chExt cx="812800" cy="8128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57150" cap="sq">
              <a:solidFill>
                <a:srgbClr val="0B0B0B">
                  <a:alpha val="24706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76200" y="76200"/>
              <a:ext cx="660400" cy="660400"/>
            </a:xfrm>
            <a:prstGeom prst="rect">
              <a:avLst/>
            </a:prstGeom>
          </p:spPr>
          <p:txBody>
            <a:bodyPr lIns="28575" tIns="28575" rIns="28575" bIns="28575" rtlCol="0" anchor="ctr"/>
            <a:lstStyle/>
            <a:p>
              <a:pPr algn="ctr">
                <a:lnSpc>
                  <a:spcPts val="1589"/>
                </a:lnSpc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-2272028" y="881713"/>
            <a:ext cx="4526045" cy="4526045"/>
            <a:chOff x="0" y="0"/>
            <a:chExt cx="812800" cy="81280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57150" cap="sq">
              <a:solidFill>
                <a:srgbClr val="837E7B">
                  <a:alpha val="24706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76200" y="76200"/>
              <a:ext cx="660400" cy="660400"/>
            </a:xfrm>
            <a:prstGeom prst="rect">
              <a:avLst/>
            </a:prstGeom>
          </p:spPr>
          <p:txBody>
            <a:bodyPr lIns="28575" tIns="28575" rIns="28575" bIns="28575" rtlCol="0" anchor="ctr"/>
            <a:lstStyle/>
            <a:p>
              <a:pPr algn="ctr">
                <a:lnSpc>
                  <a:spcPts val="1589"/>
                </a:lnSpc>
              </a:pPr>
              <a:endParaRPr/>
            </a:p>
          </p:txBody>
        </p:sp>
      </p:grpSp>
      <p:sp>
        <p:nvSpPr>
          <p:cNvPr id="11" name="Freeform 11"/>
          <p:cNvSpPr/>
          <p:nvPr/>
        </p:nvSpPr>
        <p:spPr>
          <a:xfrm>
            <a:off x="11840783" y="1507138"/>
            <a:ext cx="5010340" cy="5010340"/>
          </a:xfrm>
          <a:custGeom>
            <a:avLst/>
            <a:gdLst/>
            <a:ahLst/>
            <a:cxnLst/>
            <a:rect l="l" t="t" r="r" b="b"/>
            <a:pathLst>
              <a:path w="5010340" h="5010340">
                <a:moveTo>
                  <a:pt x="0" y="0"/>
                </a:moveTo>
                <a:lnTo>
                  <a:pt x="5010340" y="0"/>
                </a:lnTo>
                <a:lnTo>
                  <a:pt x="5010340" y="5010340"/>
                </a:lnTo>
                <a:lnTo>
                  <a:pt x="0" y="501034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58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sp>
        <p:nvSpPr>
          <p:cNvPr id="12" name="TextBox 12"/>
          <p:cNvSpPr txBox="1"/>
          <p:nvPr/>
        </p:nvSpPr>
        <p:spPr>
          <a:xfrm>
            <a:off x="631881" y="867376"/>
            <a:ext cx="8529191" cy="110594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just">
              <a:lnSpc>
                <a:spcPts val="4106"/>
              </a:lnSpc>
              <a:spcBef>
                <a:spcPct val="0"/>
              </a:spcBef>
            </a:pPr>
            <a:r>
              <a:rPr lang="en-US" sz="4831" b="1" dirty="0" err="1">
                <a:solidFill>
                  <a:srgbClr val="7189C2"/>
                </a:solidFill>
                <a:latin typeface="Nunito Sans Medium"/>
                <a:ea typeface="Nunito Sans Medium"/>
                <a:cs typeface="Nunito Sans Medium"/>
                <a:sym typeface="Nunito Sans Medium"/>
              </a:rPr>
              <a:t>Todas</a:t>
            </a:r>
            <a:r>
              <a:rPr lang="en-US" sz="4831" b="1" dirty="0">
                <a:solidFill>
                  <a:srgbClr val="7189C2"/>
                </a:solidFill>
                <a:latin typeface="Nunito Sans Medium"/>
                <a:ea typeface="Nunito Sans Medium"/>
                <a:cs typeface="Nunito Sans Medium"/>
                <a:sym typeface="Nunito Sans Medium"/>
              </a:rPr>
              <a:t> as </a:t>
            </a:r>
            <a:r>
              <a:rPr lang="en-US" sz="4831" b="1" dirty="0" err="1">
                <a:solidFill>
                  <a:srgbClr val="7189C2"/>
                </a:solidFill>
                <a:latin typeface="Nunito Sans Medium"/>
                <a:ea typeface="Nunito Sans Medium"/>
                <a:cs typeface="Nunito Sans Medium"/>
                <a:sym typeface="Nunito Sans Medium"/>
              </a:rPr>
              <a:t>informações</a:t>
            </a:r>
            <a:r>
              <a:rPr lang="en-US" sz="4831" b="1" dirty="0">
                <a:solidFill>
                  <a:srgbClr val="7189C2"/>
                </a:solidFill>
                <a:latin typeface="Nunito Sans Medium"/>
                <a:ea typeface="Nunito Sans Medium"/>
                <a:cs typeface="Nunito Sans Medium"/>
                <a:sym typeface="Nunito Sans Medium"/>
              </a:rPr>
              <a:t> da </a:t>
            </a:r>
            <a:r>
              <a:rPr lang="en-US" sz="4831" b="1" dirty="0" err="1">
                <a:solidFill>
                  <a:srgbClr val="7189C2"/>
                </a:solidFill>
                <a:latin typeface="Nunito Sans Medium"/>
                <a:ea typeface="Nunito Sans Medium"/>
                <a:cs typeface="Nunito Sans Medium"/>
                <a:sym typeface="Nunito Sans Medium"/>
              </a:rPr>
              <a:t>sua</a:t>
            </a:r>
            <a:r>
              <a:rPr lang="en-US" sz="4831" b="1" dirty="0">
                <a:solidFill>
                  <a:srgbClr val="7189C2"/>
                </a:solidFill>
                <a:latin typeface="Nunito Sans Medium"/>
                <a:ea typeface="Nunito Sans Medium"/>
                <a:cs typeface="Nunito Sans Medium"/>
                <a:sym typeface="Nunito Sans Medium"/>
              </a:rPr>
              <a:t> </a:t>
            </a:r>
            <a:r>
              <a:rPr lang="en-US" sz="4831" b="1" dirty="0" err="1">
                <a:solidFill>
                  <a:srgbClr val="7189C2"/>
                </a:solidFill>
                <a:latin typeface="Nunito Sans Medium"/>
                <a:ea typeface="Nunito Sans Medium"/>
                <a:cs typeface="Nunito Sans Medium"/>
                <a:sym typeface="Nunito Sans Medium"/>
              </a:rPr>
              <a:t>carteira</a:t>
            </a:r>
            <a:r>
              <a:rPr lang="en-US" sz="4831" b="1" dirty="0">
                <a:solidFill>
                  <a:srgbClr val="7189C2"/>
                </a:solidFill>
                <a:latin typeface="Nunito Sans Medium"/>
                <a:ea typeface="Nunito Sans Medium"/>
                <a:cs typeface="Nunito Sans Medium"/>
                <a:sym typeface="Nunito Sans Medium"/>
              </a:rPr>
              <a:t> </a:t>
            </a:r>
            <a:r>
              <a:rPr lang="en-US" sz="4831" b="1" dirty="0" err="1">
                <a:solidFill>
                  <a:srgbClr val="7189C2"/>
                </a:solidFill>
                <a:latin typeface="Nunito Sans Medium"/>
                <a:ea typeface="Nunito Sans Medium"/>
                <a:cs typeface="Nunito Sans Medium"/>
                <a:sym typeface="Nunito Sans Medium"/>
              </a:rPr>
              <a:t>em</a:t>
            </a:r>
            <a:r>
              <a:rPr lang="en-US" sz="4831" b="1" dirty="0">
                <a:solidFill>
                  <a:srgbClr val="7189C2"/>
                </a:solidFill>
                <a:latin typeface="Nunito Sans Medium"/>
                <a:ea typeface="Nunito Sans Medium"/>
                <a:cs typeface="Nunito Sans Medium"/>
                <a:sym typeface="Nunito Sans Medium"/>
              </a:rPr>
              <a:t> um </a:t>
            </a:r>
            <a:r>
              <a:rPr lang="en-US" sz="4831" b="1" dirty="0" err="1">
                <a:solidFill>
                  <a:srgbClr val="7189C2"/>
                </a:solidFill>
                <a:latin typeface="Nunito Sans Medium"/>
                <a:ea typeface="Nunito Sans Medium"/>
                <a:cs typeface="Nunito Sans Medium"/>
                <a:sym typeface="Nunito Sans Medium"/>
              </a:rPr>
              <a:t>único</a:t>
            </a:r>
            <a:r>
              <a:rPr lang="en-US" sz="4831" b="1" dirty="0">
                <a:solidFill>
                  <a:srgbClr val="7189C2"/>
                </a:solidFill>
                <a:latin typeface="Nunito Sans Medium"/>
                <a:ea typeface="Nunito Sans Medium"/>
                <a:cs typeface="Nunito Sans Medium"/>
                <a:sym typeface="Nunito Sans Medium"/>
              </a:rPr>
              <a:t> </a:t>
            </a:r>
            <a:r>
              <a:rPr lang="en-US" sz="4831" b="1" dirty="0" err="1">
                <a:solidFill>
                  <a:srgbClr val="7189C2"/>
                </a:solidFill>
                <a:latin typeface="Nunito Sans Medium"/>
                <a:ea typeface="Nunito Sans Medium"/>
                <a:cs typeface="Nunito Sans Medium"/>
                <a:sym typeface="Nunito Sans Medium"/>
              </a:rPr>
              <a:t>painel</a:t>
            </a:r>
            <a:r>
              <a:rPr lang="en-US" sz="4831" b="1" dirty="0">
                <a:solidFill>
                  <a:srgbClr val="7189C2"/>
                </a:solidFill>
                <a:latin typeface="Nunito Sans Medium"/>
                <a:ea typeface="Nunito Sans Medium"/>
                <a:cs typeface="Nunito Sans Medium"/>
                <a:sym typeface="Nunito Sans Medium"/>
              </a:rPr>
              <a:t>!</a:t>
            </a:r>
          </a:p>
        </p:txBody>
      </p:sp>
      <p:sp>
        <p:nvSpPr>
          <p:cNvPr id="13" name="TextBox 13"/>
          <p:cNvSpPr txBox="1"/>
          <p:nvPr/>
        </p:nvSpPr>
        <p:spPr>
          <a:xfrm rot="5400000">
            <a:off x="14200408" y="7466072"/>
            <a:ext cx="3473054" cy="4303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027"/>
              </a:lnSpc>
            </a:pPr>
            <a:r>
              <a:rPr lang="en-US" sz="3784" spc="140">
                <a:solidFill>
                  <a:srgbClr val="7189C2"/>
                </a:solidFill>
                <a:latin typeface="Nunito Sans"/>
                <a:ea typeface="Nunito Sans"/>
                <a:cs typeface="Nunito Sans"/>
                <a:sym typeface="Nunito Sans"/>
              </a:rPr>
              <a:t>DASHBOARD</a:t>
            </a:r>
          </a:p>
        </p:txBody>
      </p:sp>
      <p:sp>
        <p:nvSpPr>
          <p:cNvPr id="14" name="Freeform 14"/>
          <p:cNvSpPr/>
          <p:nvPr/>
        </p:nvSpPr>
        <p:spPr>
          <a:xfrm rot="5400000">
            <a:off x="15430628" y="4777358"/>
            <a:ext cx="1221218" cy="1081985"/>
          </a:xfrm>
          <a:custGeom>
            <a:avLst/>
            <a:gdLst/>
            <a:ahLst/>
            <a:cxnLst/>
            <a:rect l="l" t="t" r="r" b="b"/>
            <a:pathLst>
              <a:path w="1221218" h="1081985">
                <a:moveTo>
                  <a:pt x="0" y="0"/>
                </a:moveTo>
                <a:lnTo>
                  <a:pt x="1221219" y="0"/>
                </a:lnTo>
                <a:lnTo>
                  <a:pt x="1221219" y="1081985"/>
                </a:lnTo>
                <a:lnTo>
                  <a:pt x="0" y="108198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121577" t="-29090" r="-117623" b="-80041"/>
            </a:stretch>
          </a:blipFill>
        </p:spPr>
        <p:txBody>
          <a:bodyPr/>
          <a:lstStyle/>
          <a:p>
            <a:endParaRPr lang="pt-BR"/>
          </a:p>
        </p:txBody>
      </p:sp>
      <p:sp>
        <p:nvSpPr>
          <p:cNvPr id="15" name="Freeform 15"/>
          <p:cNvSpPr/>
          <p:nvPr/>
        </p:nvSpPr>
        <p:spPr>
          <a:xfrm>
            <a:off x="14313174" y="2536822"/>
            <a:ext cx="2753480" cy="2753480"/>
          </a:xfrm>
          <a:custGeom>
            <a:avLst/>
            <a:gdLst/>
            <a:ahLst/>
            <a:cxnLst/>
            <a:rect l="l" t="t" r="r" b="b"/>
            <a:pathLst>
              <a:path w="2753480" h="2753480">
                <a:moveTo>
                  <a:pt x="0" y="0"/>
                </a:moveTo>
                <a:lnTo>
                  <a:pt x="2753480" y="0"/>
                </a:lnTo>
                <a:lnTo>
                  <a:pt x="2753480" y="2753480"/>
                </a:lnTo>
                <a:lnTo>
                  <a:pt x="0" y="275348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58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sp>
        <p:nvSpPr>
          <p:cNvPr id="16" name="Freeform 16"/>
          <p:cNvSpPr/>
          <p:nvPr/>
        </p:nvSpPr>
        <p:spPr>
          <a:xfrm>
            <a:off x="2533668" y="2297672"/>
            <a:ext cx="12810670" cy="7347239"/>
          </a:xfrm>
          <a:custGeom>
            <a:avLst/>
            <a:gdLst/>
            <a:ahLst/>
            <a:cxnLst/>
            <a:rect l="l" t="t" r="r" b="b"/>
            <a:pathLst>
              <a:path w="12810670" h="7347239">
                <a:moveTo>
                  <a:pt x="0" y="0"/>
                </a:moveTo>
                <a:lnTo>
                  <a:pt x="12810670" y="0"/>
                </a:lnTo>
                <a:lnTo>
                  <a:pt x="12810670" y="7347239"/>
                </a:lnTo>
                <a:lnTo>
                  <a:pt x="0" y="734723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4895" t="-10218" r="-4631" b="-10929"/>
            </a:stretch>
          </a:blipFill>
        </p:spPr>
        <p:txBody>
          <a:bodyPr/>
          <a:lstStyle/>
          <a:p>
            <a:endParaRPr lang="pt-BR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EBE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flipV="1">
            <a:off x="12875416" y="-1574611"/>
            <a:ext cx="5933796" cy="5944604"/>
          </a:xfrm>
          <a:custGeom>
            <a:avLst/>
            <a:gdLst/>
            <a:ahLst/>
            <a:cxnLst/>
            <a:rect l="l" t="t" r="r" b="b"/>
            <a:pathLst>
              <a:path w="5933796" h="5944604">
                <a:moveTo>
                  <a:pt x="0" y="5944604"/>
                </a:moveTo>
                <a:lnTo>
                  <a:pt x="5933796" y="5944604"/>
                </a:lnTo>
                <a:lnTo>
                  <a:pt x="5933796" y="0"/>
                </a:lnTo>
                <a:lnTo>
                  <a:pt x="0" y="0"/>
                </a:lnTo>
                <a:lnTo>
                  <a:pt x="0" y="5944604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sp>
        <p:nvSpPr>
          <p:cNvPr id="3" name="Freeform 3"/>
          <p:cNvSpPr/>
          <p:nvPr/>
        </p:nvSpPr>
        <p:spPr>
          <a:xfrm flipV="1">
            <a:off x="-50495" y="6818149"/>
            <a:ext cx="5099372" cy="5108660"/>
          </a:xfrm>
          <a:custGeom>
            <a:avLst/>
            <a:gdLst/>
            <a:ahLst/>
            <a:cxnLst/>
            <a:rect l="l" t="t" r="r" b="b"/>
            <a:pathLst>
              <a:path w="5099372" h="5108660">
                <a:moveTo>
                  <a:pt x="0" y="5108660"/>
                </a:moveTo>
                <a:lnTo>
                  <a:pt x="5099371" y="5108660"/>
                </a:lnTo>
                <a:lnTo>
                  <a:pt x="5099371" y="0"/>
                </a:lnTo>
                <a:lnTo>
                  <a:pt x="0" y="0"/>
                </a:lnTo>
                <a:lnTo>
                  <a:pt x="0" y="510866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sp>
        <p:nvSpPr>
          <p:cNvPr id="4" name="Freeform 4"/>
          <p:cNvSpPr/>
          <p:nvPr/>
        </p:nvSpPr>
        <p:spPr>
          <a:xfrm>
            <a:off x="2686068" y="6818149"/>
            <a:ext cx="5010340" cy="5010340"/>
          </a:xfrm>
          <a:custGeom>
            <a:avLst/>
            <a:gdLst/>
            <a:ahLst/>
            <a:cxnLst/>
            <a:rect l="l" t="t" r="r" b="b"/>
            <a:pathLst>
              <a:path w="5010340" h="5010340">
                <a:moveTo>
                  <a:pt x="0" y="0"/>
                </a:moveTo>
                <a:lnTo>
                  <a:pt x="5010340" y="0"/>
                </a:lnTo>
                <a:lnTo>
                  <a:pt x="5010340" y="5010340"/>
                </a:lnTo>
                <a:lnTo>
                  <a:pt x="0" y="501034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58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grpSp>
        <p:nvGrpSpPr>
          <p:cNvPr id="5" name="Group 5"/>
          <p:cNvGrpSpPr/>
          <p:nvPr/>
        </p:nvGrpSpPr>
        <p:grpSpPr>
          <a:xfrm>
            <a:off x="-757358" y="-2401518"/>
            <a:ext cx="4526045" cy="4526045"/>
            <a:chOff x="0" y="0"/>
            <a:chExt cx="812800" cy="8128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57150" cap="sq">
              <a:solidFill>
                <a:srgbClr val="0B0B0B">
                  <a:alpha val="24706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76200" y="76200"/>
              <a:ext cx="660400" cy="660400"/>
            </a:xfrm>
            <a:prstGeom prst="rect">
              <a:avLst/>
            </a:prstGeom>
          </p:spPr>
          <p:txBody>
            <a:bodyPr lIns="28575" tIns="28575" rIns="28575" bIns="28575" rtlCol="0" anchor="ctr"/>
            <a:lstStyle/>
            <a:p>
              <a:pPr algn="ctr">
                <a:lnSpc>
                  <a:spcPts val="1589"/>
                </a:lnSpc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-2299318" y="792306"/>
            <a:ext cx="4526045" cy="4526045"/>
            <a:chOff x="0" y="0"/>
            <a:chExt cx="812800" cy="81280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57150" cap="sq">
              <a:solidFill>
                <a:srgbClr val="837E7B">
                  <a:alpha val="24706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76200" y="76200"/>
              <a:ext cx="660400" cy="660400"/>
            </a:xfrm>
            <a:prstGeom prst="rect">
              <a:avLst/>
            </a:prstGeom>
          </p:spPr>
          <p:txBody>
            <a:bodyPr lIns="28575" tIns="28575" rIns="28575" bIns="28575" rtlCol="0" anchor="ctr"/>
            <a:lstStyle/>
            <a:p>
              <a:pPr algn="ctr">
                <a:lnSpc>
                  <a:spcPts val="1589"/>
                </a:lnSpc>
              </a:pPr>
              <a:endParaRPr/>
            </a:p>
          </p:txBody>
        </p:sp>
      </p:grpSp>
      <p:sp>
        <p:nvSpPr>
          <p:cNvPr id="11" name="Freeform 11"/>
          <p:cNvSpPr/>
          <p:nvPr/>
        </p:nvSpPr>
        <p:spPr>
          <a:xfrm>
            <a:off x="11840783" y="2297672"/>
            <a:ext cx="5010340" cy="5010340"/>
          </a:xfrm>
          <a:custGeom>
            <a:avLst/>
            <a:gdLst/>
            <a:ahLst/>
            <a:cxnLst/>
            <a:rect l="l" t="t" r="r" b="b"/>
            <a:pathLst>
              <a:path w="5010340" h="5010340">
                <a:moveTo>
                  <a:pt x="0" y="0"/>
                </a:moveTo>
                <a:lnTo>
                  <a:pt x="5010340" y="0"/>
                </a:lnTo>
                <a:lnTo>
                  <a:pt x="5010340" y="5010340"/>
                </a:lnTo>
                <a:lnTo>
                  <a:pt x="0" y="501034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58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sp>
        <p:nvSpPr>
          <p:cNvPr id="12" name="TextBox 12"/>
          <p:cNvSpPr txBox="1"/>
          <p:nvPr/>
        </p:nvSpPr>
        <p:spPr>
          <a:xfrm>
            <a:off x="604590" y="777969"/>
            <a:ext cx="8529191" cy="110594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just">
              <a:lnSpc>
                <a:spcPts val="4106"/>
              </a:lnSpc>
              <a:spcBef>
                <a:spcPct val="0"/>
              </a:spcBef>
            </a:pPr>
            <a:r>
              <a:rPr lang="en-US" sz="4831" b="1" dirty="0">
                <a:solidFill>
                  <a:srgbClr val="7189C2"/>
                </a:solidFill>
                <a:latin typeface="Nunito Sans Medium"/>
                <a:ea typeface="Nunito Sans Medium"/>
                <a:cs typeface="Nunito Sans Medium"/>
                <a:sym typeface="Nunito Sans Medium"/>
              </a:rPr>
              <a:t>Controle </a:t>
            </a:r>
            <a:r>
              <a:rPr lang="en-US" sz="4831" b="1" dirty="0" err="1">
                <a:solidFill>
                  <a:srgbClr val="7189C2"/>
                </a:solidFill>
                <a:latin typeface="Nunito Sans Medium"/>
                <a:ea typeface="Nunito Sans Medium"/>
                <a:cs typeface="Nunito Sans Medium"/>
                <a:sym typeface="Nunito Sans Medium"/>
              </a:rPr>
              <a:t>seus</a:t>
            </a:r>
            <a:r>
              <a:rPr lang="en-US" sz="4831" b="1" dirty="0">
                <a:solidFill>
                  <a:srgbClr val="7189C2"/>
                </a:solidFill>
                <a:latin typeface="Nunito Sans Medium"/>
                <a:ea typeface="Nunito Sans Medium"/>
                <a:cs typeface="Nunito Sans Medium"/>
                <a:sym typeface="Nunito Sans Medium"/>
              </a:rPr>
              <a:t> </a:t>
            </a:r>
            <a:r>
              <a:rPr lang="en-US" sz="4831" b="1" dirty="0" err="1">
                <a:solidFill>
                  <a:srgbClr val="7189C2"/>
                </a:solidFill>
                <a:latin typeface="Nunito Sans Medium"/>
                <a:ea typeface="Nunito Sans Medium"/>
                <a:cs typeface="Nunito Sans Medium"/>
                <a:sym typeface="Nunito Sans Medium"/>
              </a:rPr>
              <a:t>investimentos</a:t>
            </a:r>
            <a:r>
              <a:rPr lang="en-US" sz="4831" b="1" dirty="0">
                <a:solidFill>
                  <a:srgbClr val="7189C2"/>
                </a:solidFill>
                <a:latin typeface="Nunito Sans Medium"/>
                <a:ea typeface="Nunito Sans Medium"/>
                <a:cs typeface="Nunito Sans Medium"/>
                <a:sym typeface="Nunito Sans Medium"/>
              </a:rPr>
              <a:t> com </a:t>
            </a:r>
            <a:r>
              <a:rPr lang="en-US" sz="4831" b="1" dirty="0" err="1">
                <a:solidFill>
                  <a:srgbClr val="7189C2"/>
                </a:solidFill>
                <a:latin typeface="Nunito Sans Medium"/>
                <a:ea typeface="Nunito Sans Medium"/>
                <a:cs typeface="Nunito Sans Medium"/>
                <a:sym typeface="Nunito Sans Medium"/>
              </a:rPr>
              <a:t>praticidade</a:t>
            </a:r>
            <a:r>
              <a:rPr lang="en-US" sz="4831" b="1" dirty="0">
                <a:solidFill>
                  <a:srgbClr val="7189C2"/>
                </a:solidFill>
                <a:latin typeface="Nunito Sans Medium"/>
                <a:ea typeface="Nunito Sans Medium"/>
                <a:cs typeface="Nunito Sans Medium"/>
                <a:sym typeface="Nunito Sans Medium"/>
              </a:rPr>
              <a:t> e </a:t>
            </a:r>
            <a:r>
              <a:rPr lang="en-US" sz="4831" b="1" dirty="0" err="1">
                <a:solidFill>
                  <a:srgbClr val="7189C2"/>
                </a:solidFill>
                <a:latin typeface="Nunito Sans Medium"/>
                <a:ea typeface="Nunito Sans Medium"/>
                <a:cs typeface="Nunito Sans Medium"/>
                <a:sym typeface="Nunito Sans Medium"/>
              </a:rPr>
              <a:t>segurança</a:t>
            </a:r>
            <a:r>
              <a:rPr lang="en-US" sz="4831" b="1" dirty="0">
                <a:solidFill>
                  <a:srgbClr val="7189C2"/>
                </a:solidFill>
                <a:latin typeface="Nunito Sans Medium"/>
                <a:ea typeface="Nunito Sans Medium"/>
                <a:cs typeface="Nunito Sans Medium"/>
                <a:sym typeface="Nunito Sans Medium"/>
              </a:rPr>
              <a:t>!</a:t>
            </a:r>
          </a:p>
        </p:txBody>
      </p:sp>
      <p:sp>
        <p:nvSpPr>
          <p:cNvPr id="13" name="TextBox 13"/>
          <p:cNvSpPr txBox="1"/>
          <p:nvPr/>
        </p:nvSpPr>
        <p:spPr>
          <a:xfrm rot="5400000">
            <a:off x="14200408" y="8256606"/>
            <a:ext cx="3473054" cy="4303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027"/>
              </a:lnSpc>
            </a:pPr>
            <a:r>
              <a:rPr lang="en-US" sz="3784" spc="140">
                <a:solidFill>
                  <a:srgbClr val="7189C2"/>
                </a:solidFill>
                <a:latin typeface="Nunito Sans"/>
                <a:ea typeface="Nunito Sans"/>
                <a:cs typeface="Nunito Sans"/>
                <a:sym typeface="Nunito Sans"/>
              </a:rPr>
              <a:t>CARTEIRA</a:t>
            </a:r>
          </a:p>
        </p:txBody>
      </p:sp>
      <p:sp>
        <p:nvSpPr>
          <p:cNvPr id="14" name="Freeform 14"/>
          <p:cNvSpPr/>
          <p:nvPr/>
        </p:nvSpPr>
        <p:spPr>
          <a:xfrm>
            <a:off x="2429386" y="2124526"/>
            <a:ext cx="12739583" cy="7398063"/>
          </a:xfrm>
          <a:custGeom>
            <a:avLst/>
            <a:gdLst/>
            <a:ahLst/>
            <a:cxnLst/>
            <a:rect l="l" t="t" r="r" b="b"/>
            <a:pathLst>
              <a:path w="12739583" h="7398063">
                <a:moveTo>
                  <a:pt x="0" y="0"/>
                </a:moveTo>
                <a:lnTo>
                  <a:pt x="12739583" y="0"/>
                </a:lnTo>
                <a:lnTo>
                  <a:pt x="12739583" y="7398063"/>
                </a:lnTo>
                <a:lnTo>
                  <a:pt x="0" y="739806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4817" t="-9638" r="-5272" b="-10624"/>
            </a:stretch>
          </a:blipFill>
        </p:spPr>
        <p:txBody>
          <a:bodyPr/>
          <a:lstStyle/>
          <a:p>
            <a:endParaRPr lang="pt-BR"/>
          </a:p>
        </p:txBody>
      </p:sp>
      <p:sp>
        <p:nvSpPr>
          <p:cNvPr id="15" name="Freeform 15"/>
          <p:cNvSpPr/>
          <p:nvPr/>
        </p:nvSpPr>
        <p:spPr>
          <a:xfrm rot="5400000">
            <a:off x="15430628" y="5567892"/>
            <a:ext cx="1221218" cy="1081985"/>
          </a:xfrm>
          <a:custGeom>
            <a:avLst/>
            <a:gdLst/>
            <a:ahLst/>
            <a:cxnLst/>
            <a:rect l="l" t="t" r="r" b="b"/>
            <a:pathLst>
              <a:path w="1221218" h="1081985">
                <a:moveTo>
                  <a:pt x="0" y="0"/>
                </a:moveTo>
                <a:lnTo>
                  <a:pt x="1221219" y="0"/>
                </a:lnTo>
                <a:lnTo>
                  <a:pt x="1221219" y="1081985"/>
                </a:lnTo>
                <a:lnTo>
                  <a:pt x="0" y="108198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121577" t="-29090" r="-117623" b="-80041"/>
            </a:stretch>
          </a:blipFill>
        </p:spPr>
        <p:txBody>
          <a:bodyPr/>
          <a:lstStyle/>
          <a:p>
            <a:endParaRPr lang="pt-BR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EBE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flipV="1">
            <a:off x="13027816" y="-1422211"/>
            <a:ext cx="5933796" cy="5944604"/>
          </a:xfrm>
          <a:custGeom>
            <a:avLst/>
            <a:gdLst/>
            <a:ahLst/>
            <a:cxnLst/>
            <a:rect l="l" t="t" r="r" b="b"/>
            <a:pathLst>
              <a:path w="5933796" h="5944604">
                <a:moveTo>
                  <a:pt x="0" y="5944604"/>
                </a:moveTo>
                <a:lnTo>
                  <a:pt x="5933796" y="5944604"/>
                </a:lnTo>
                <a:lnTo>
                  <a:pt x="5933796" y="0"/>
                </a:lnTo>
                <a:lnTo>
                  <a:pt x="0" y="0"/>
                </a:lnTo>
                <a:lnTo>
                  <a:pt x="0" y="5944604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sp>
        <p:nvSpPr>
          <p:cNvPr id="3" name="Freeform 3"/>
          <p:cNvSpPr/>
          <p:nvPr/>
        </p:nvSpPr>
        <p:spPr>
          <a:xfrm flipV="1">
            <a:off x="101905" y="6970549"/>
            <a:ext cx="5099372" cy="5108660"/>
          </a:xfrm>
          <a:custGeom>
            <a:avLst/>
            <a:gdLst/>
            <a:ahLst/>
            <a:cxnLst/>
            <a:rect l="l" t="t" r="r" b="b"/>
            <a:pathLst>
              <a:path w="5099372" h="5108660">
                <a:moveTo>
                  <a:pt x="0" y="5108660"/>
                </a:moveTo>
                <a:lnTo>
                  <a:pt x="5099371" y="5108660"/>
                </a:lnTo>
                <a:lnTo>
                  <a:pt x="5099371" y="0"/>
                </a:lnTo>
                <a:lnTo>
                  <a:pt x="0" y="0"/>
                </a:lnTo>
                <a:lnTo>
                  <a:pt x="0" y="510866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sp>
        <p:nvSpPr>
          <p:cNvPr id="4" name="Freeform 4"/>
          <p:cNvSpPr/>
          <p:nvPr/>
        </p:nvSpPr>
        <p:spPr>
          <a:xfrm>
            <a:off x="2838468" y="6970549"/>
            <a:ext cx="5010340" cy="5010340"/>
          </a:xfrm>
          <a:custGeom>
            <a:avLst/>
            <a:gdLst/>
            <a:ahLst/>
            <a:cxnLst/>
            <a:rect l="l" t="t" r="r" b="b"/>
            <a:pathLst>
              <a:path w="5010340" h="5010340">
                <a:moveTo>
                  <a:pt x="0" y="0"/>
                </a:moveTo>
                <a:lnTo>
                  <a:pt x="5010340" y="0"/>
                </a:lnTo>
                <a:lnTo>
                  <a:pt x="5010340" y="5010340"/>
                </a:lnTo>
                <a:lnTo>
                  <a:pt x="0" y="501034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58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grpSp>
        <p:nvGrpSpPr>
          <p:cNvPr id="5" name="Group 5"/>
          <p:cNvGrpSpPr/>
          <p:nvPr/>
        </p:nvGrpSpPr>
        <p:grpSpPr>
          <a:xfrm>
            <a:off x="-747140" y="-2575920"/>
            <a:ext cx="4526045" cy="4526045"/>
            <a:chOff x="0" y="0"/>
            <a:chExt cx="812800" cy="8128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57150" cap="sq">
              <a:solidFill>
                <a:srgbClr val="0B0B0B">
                  <a:alpha val="24706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76200" y="76200"/>
              <a:ext cx="660400" cy="660400"/>
            </a:xfrm>
            <a:prstGeom prst="rect">
              <a:avLst/>
            </a:prstGeom>
          </p:spPr>
          <p:txBody>
            <a:bodyPr lIns="28575" tIns="28575" rIns="28575" bIns="28575" rtlCol="0" anchor="ctr"/>
            <a:lstStyle/>
            <a:p>
              <a:pPr algn="ctr">
                <a:lnSpc>
                  <a:spcPts val="1589"/>
                </a:lnSpc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-2289100" y="617904"/>
            <a:ext cx="4526045" cy="4526045"/>
            <a:chOff x="0" y="0"/>
            <a:chExt cx="812800" cy="81280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57150" cap="sq">
              <a:solidFill>
                <a:srgbClr val="837E7B">
                  <a:alpha val="24706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76200" y="76200"/>
              <a:ext cx="660400" cy="660400"/>
            </a:xfrm>
            <a:prstGeom prst="rect">
              <a:avLst/>
            </a:prstGeom>
          </p:spPr>
          <p:txBody>
            <a:bodyPr lIns="28575" tIns="28575" rIns="28575" bIns="28575" rtlCol="0" anchor="ctr"/>
            <a:lstStyle/>
            <a:p>
              <a:pPr algn="ctr">
                <a:lnSpc>
                  <a:spcPts val="1589"/>
                </a:lnSpc>
              </a:pPr>
              <a:endParaRPr/>
            </a:p>
          </p:txBody>
        </p:sp>
      </p:grpSp>
      <p:sp>
        <p:nvSpPr>
          <p:cNvPr id="11" name="Freeform 11"/>
          <p:cNvSpPr/>
          <p:nvPr/>
        </p:nvSpPr>
        <p:spPr>
          <a:xfrm>
            <a:off x="11709948" y="1727063"/>
            <a:ext cx="5010340" cy="5010340"/>
          </a:xfrm>
          <a:custGeom>
            <a:avLst/>
            <a:gdLst/>
            <a:ahLst/>
            <a:cxnLst/>
            <a:rect l="l" t="t" r="r" b="b"/>
            <a:pathLst>
              <a:path w="5010340" h="5010340">
                <a:moveTo>
                  <a:pt x="0" y="0"/>
                </a:moveTo>
                <a:lnTo>
                  <a:pt x="5010339" y="0"/>
                </a:lnTo>
                <a:lnTo>
                  <a:pt x="5010339" y="5010340"/>
                </a:lnTo>
                <a:lnTo>
                  <a:pt x="0" y="501034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58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sp>
        <p:nvSpPr>
          <p:cNvPr id="12" name="TextBox 12"/>
          <p:cNvSpPr txBox="1"/>
          <p:nvPr/>
        </p:nvSpPr>
        <p:spPr>
          <a:xfrm>
            <a:off x="614809" y="603567"/>
            <a:ext cx="8529191" cy="16317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4106"/>
              </a:lnSpc>
              <a:spcBef>
                <a:spcPct val="0"/>
              </a:spcBef>
            </a:pPr>
            <a:r>
              <a:rPr lang="en-US" sz="4831" b="1" dirty="0">
                <a:solidFill>
                  <a:srgbClr val="7189C2"/>
                </a:solidFill>
                <a:latin typeface="Nunito Sans Medium"/>
                <a:ea typeface="Nunito Sans Medium"/>
                <a:cs typeface="Nunito Sans Medium"/>
                <a:sym typeface="Nunito Sans Medium"/>
              </a:rPr>
              <a:t>Histórico </a:t>
            </a:r>
            <a:r>
              <a:rPr lang="en-US" sz="4831" b="1" dirty="0" err="1">
                <a:solidFill>
                  <a:srgbClr val="7189C2"/>
                </a:solidFill>
                <a:latin typeface="Nunito Sans Medium"/>
                <a:ea typeface="Nunito Sans Medium"/>
                <a:cs typeface="Nunito Sans Medium"/>
                <a:sym typeface="Nunito Sans Medium"/>
              </a:rPr>
              <a:t>completo</a:t>
            </a:r>
            <a:r>
              <a:rPr lang="en-US" sz="4831" b="1" dirty="0">
                <a:solidFill>
                  <a:srgbClr val="7189C2"/>
                </a:solidFill>
                <a:latin typeface="Nunito Sans Medium"/>
                <a:ea typeface="Nunito Sans Medium"/>
                <a:cs typeface="Nunito Sans Medium"/>
                <a:sym typeface="Nunito Sans Medium"/>
              </a:rPr>
              <a:t> para </a:t>
            </a:r>
            <a:r>
              <a:rPr lang="en-US" sz="4831" b="1" dirty="0" err="1">
                <a:solidFill>
                  <a:srgbClr val="7189C2"/>
                </a:solidFill>
                <a:latin typeface="Nunito Sans Medium"/>
                <a:ea typeface="Nunito Sans Medium"/>
                <a:cs typeface="Nunito Sans Medium"/>
                <a:sym typeface="Nunito Sans Medium"/>
              </a:rPr>
              <a:t>acompanhar</a:t>
            </a:r>
            <a:r>
              <a:rPr lang="en-US" sz="4831" b="1" dirty="0">
                <a:solidFill>
                  <a:srgbClr val="7189C2"/>
                </a:solidFill>
                <a:latin typeface="Nunito Sans Medium"/>
                <a:ea typeface="Nunito Sans Medium"/>
                <a:cs typeface="Nunito Sans Medium"/>
                <a:sym typeface="Nunito Sans Medium"/>
              </a:rPr>
              <a:t> </a:t>
            </a:r>
            <a:r>
              <a:rPr lang="en-US" sz="4831" b="1" dirty="0" err="1">
                <a:solidFill>
                  <a:srgbClr val="7189C2"/>
                </a:solidFill>
                <a:latin typeface="Nunito Sans Medium"/>
                <a:ea typeface="Nunito Sans Medium"/>
                <a:cs typeface="Nunito Sans Medium"/>
                <a:sym typeface="Nunito Sans Medium"/>
              </a:rPr>
              <a:t>cada</a:t>
            </a:r>
            <a:r>
              <a:rPr lang="en-US" sz="4831" b="1" dirty="0">
                <a:solidFill>
                  <a:srgbClr val="7189C2"/>
                </a:solidFill>
                <a:latin typeface="Nunito Sans Medium"/>
                <a:ea typeface="Nunito Sans Medium"/>
                <a:cs typeface="Nunito Sans Medium"/>
                <a:sym typeface="Nunito Sans Medium"/>
              </a:rPr>
              <a:t> </a:t>
            </a:r>
            <a:r>
              <a:rPr lang="en-US" sz="4831" b="1" dirty="0" err="1">
                <a:solidFill>
                  <a:srgbClr val="7189C2"/>
                </a:solidFill>
                <a:latin typeface="Nunito Sans Medium"/>
                <a:ea typeface="Nunito Sans Medium"/>
                <a:cs typeface="Nunito Sans Medium"/>
                <a:sym typeface="Nunito Sans Medium"/>
              </a:rPr>
              <a:t>operação</a:t>
            </a:r>
            <a:r>
              <a:rPr lang="en-US" sz="4831" b="1" dirty="0">
                <a:solidFill>
                  <a:srgbClr val="7189C2"/>
                </a:solidFill>
                <a:latin typeface="Nunito Sans Medium"/>
                <a:ea typeface="Nunito Sans Medium"/>
                <a:cs typeface="Nunito Sans Medium"/>
                <a:sym typeface="Nunito Sans Medium"/>
              </a:rPr>
              <a:t>!</a:t>
            </a:r>
          </a:p>
          <a:p>
            <a:pPr marL="0" lvl="0" indent="0" algn="l">
              <a:lnSpc>
                <a:spcPts val="4106"/>
              </a:lnSpc>
              <a:spcBef>
                <a:spcPct val="0"/>
              </a:spcBef>
            </a:pPr>
            <a:endParaRPr lang="en-US" sz="4831" b="1" dirty="0">
              <a:solidFill>
                <a:srgbClr val="7189C2"/>
              </a:solidFill>
              <a:latin typeface="Nunito Sans Medium"/>
              <a:ea typeface="Nunito Sans Medium"/>
              <a:cs typeface="Nunito Sans Medium"/>
              <a:sym typeface="Nunito Sans Medium"/>
            </a:endParaRPr>
          </a:p>
        </p:txBody>
      </p:sp>
      <p:sp>
        <p:nvSpPr>
          <p:cNvPr id="13" name="TextBox 13"/>
          <p:cNvSpPr txBox="1"/>
          <p:nvPr/>
        </p:nvSpPr>
        <p:spPr>
          <a:xfrm rot="5400000">
            <a:off x="14069571" y="7685998"/>
            <a:ext cx="3473054" cy="4303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027"/>
              </a:lnSpc>
            </a:pPr>
            <a:r>
              <a:rPr lang="en-US" sz="3784" spc="140">
                <a:solidFill>
                  <a:srgbClr val="7189C2"/>
                </a:solidFill>
                <a:latin typeface="Nunito Sans"/>
                <a:ea typeface="Nunito Sans"/>
                <a:cs typeface="Nunito Sans"/>
                <a:sym typeface="Nunito Sans"/>
              </a:rPr>
              <a:t>HISTÓRICO</a:t>
            </a:r>
          </a:p>
        </p:txBody>
      </p:sp>
      <p:sp>
        <p:nvSpPr>
          <p:cNvPr id="14" name="Freeform 14"/>
          <p:cNvSpPr/>
          <p:nvPr/>
        </p:nvSpPr>
        <p:spPr>
          <a:xfrm rot="5400000">
            <a:off x="15299792" y="4997283"/>
            <a:ext cx="1221218" cy="1081985"/>
          </a:xfrm>
          <a:custGeom>
            <a:avLst/>
            <a:gdLst/>
            <a:ahLst/>
            <a:cxnLst/>
            <a:rect l="l" t="t" r="r" b="b"/>
            <a:pathLst>
              <a:path w="1221218" h="1081985">
                <a:moveTo>
                  <a:pt x="0" y="0"/>
                </a:moveTo>
                <a:lnTo>
                  <a:pt x="1221219" y="0"/>
                </a:lnTo>
                <a:lnTo>
                  <a:pt x="1221219" y="1081984"/>
                </a:lnTo>
                <a:lnTo>
                  <a:pt x="0" y="108198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121577" t="-29090" r="-117623" b="-80041"/>
            </a:stretch>
          </a:blipFill>
        </p:spPr>
        <p:txBody>
          <a:bodyPr/>
          <a:lstStyle/>
          <a:p>
            <a:endParaRPr lang="pt-BR"/>
          </a:p>
        </p:txBody>
      </p:sp>
      <p:sp>
        <p:nvSpPr>
          <p:cNvPr id="15" name="Freeform 15"/>
          <p:cNvSpPr/>
          <p:nvPr/>
        </p:nvSpPr>
        <p:spPr>
          <a:xfrm>
            <a:off x="2379126" y="2080520"/>
            <a:ext cx="12789843" cy="7401031"/>
          </a:xfrm>
          <a:custGeom>
            <a:avLst/>
            <a:gdLst/>
            <a:ahLst/>
            <a:cxnLst/>
            <a:rect l="l" t="t" r="r" b="b"/>
            <a:pathLst>
              <a:path w="12789843" h="7401031">
                <a:moveTo>
                  <a:pt x="0" y="0"/>
                </a:moveTo>
                <a:lnTo>
                  <a:pt x="12789843" y="0"/>
                </a:lnTo>
                <a:lnTo>
                  <a:pt x="12789843" y="7401031"/>
                </a:lnTo>
                <a:lnTo>
                  <a:pt x="0" y="7401031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4520" t="-9277" r="-4695" b="-10452"/>
            </a:stretch>
          </a:blipFill>
        </p:spPr>
        <p:txBody>
          <a:bodyPr/>
          <a:lstStyle/>
          <a:p>
            <a:endParaRPr lang="pt-BR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EBE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flipV="1">
            <a:off x="13180216" y="-1269811"/>
            <a:ext cx="5933796" cy="5944604"/>
          </a:xfrm>
          <a:custGeom>
            <a:avLst/>
            <a:gdLst/>
            <a:ahLst/>
            <a:cxnLst/>
            <a:rect l="l" t="t" r="r" b="b"/>
            <a:pathLst>
              <a:path w="5933796" h="5944604">
                <a:moveTo>
                  <a:pt x="0" y="5944604"/>
                </a:moveTo>
                <a:lnTo>
                  <a:pt x="5933796" y="5944604"/>
                </a:lnTo>
                <a:lnTo>
                  <a:pt x="5933796" y="0"/>
                </a:lnTo>
                <a:lnTo>
                  <a:pt x="0" y="0"/>
                </a:lnTo>
                <a:lnTo>
                  <a:pt x="0" y="5944604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sp>
        <p:nvSpPr>
          <p:cNvPr id="3" name="Freeform 3"/>
          <p:cNvSpPr/>
          <p:nvPr/>
        </p:nvSpPr>
        <p:spPr>
          <a:xfrm flipV="1">
            <a:off x="0" y="7041434"/>
            <a:ext cx="5099372" cy="5108660"/>
          </a:xfrm>
          <a:custGeom>
            <a:avLst/>
            <a:gdLst/>
            <a:ahLst/>
            <a:cxnLst/>
            <a:rect l="l" t="t" r="r" b="b"/>
            <a:pathLst>
              <a:path w="5099372" h="5108660">
                <a:moveTo>
                  <a:pt x="0" y="5108660"/>
                </a:moveTo>
                <a:lnTo>
                  <a:pt x="5099372" y="5108660"/>
                </a:lnTo>
                <a:lnTo>
                  <a:pt x="5099372" y="0"/>
                </a:lnTo>
                <a:lnTo>
                  <a:pt x="0" y="0"/>
                </a:lnTo>
                <a:lnTo>
                  <a:pt x="0" y="510866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sp>
        <p:nvSpPr>
          <p:cNvPr id="4" name="Freeform 4"/>
          <p:cNvSpPr/>
          <p:nvPr/>
        </p:nvSpPr>
        <p:spPr>
          <a:xfrm>
            <a:off x="2736563" y="7041434"/>
            <a:ext cx="5010340" cy="5010340"/>
          </a:xfrm>
          <a:custGeom>
            <a:avLst/>
            <a:gdLst/>
            <a:ahLst/>
            <a:cxnLst/>
            <a:rect l="l" t="t" r="r" b="b"/>
            <a:pathLst>
              <a:path w="5010340" h="5010340">
                <a:moveTo>
                  <a:pt x="0" y="0"/>
                </a:moveTo>
                <a:lnTo>
                  <a:pt x="5010340" y="0"/>
                </a:lnTo>
                <a:lnTo>
                  <a:pt x="5010340" y="5010340"/>
                </a:lnTo>
                <a:lnTo>
                  <a:pt x="0" y="501034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58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grpSp>
        <p:nvGrpSpPr>
          <p:cNvPr id="5" name="Group 5"/>
          <p:cNvGrpSpPr/>
          <p:nvPr/>
        </p:nvGrpSpPr>
        <p:grpSpPr>
          <a:xfrm>
            <a:off x="-952137" y="-2539392"/>
            <a:ext cx="4526045" cy="4526045"/>
            <a:chOff x="0" y="0"/>
            <a:chExt cx="812800" cy="8128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57150" cap="sq">
              <a:solidFill>
                <a:srgbClr val="0B0B0B">
                  <a:alpha val="24706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76200" y="76200"/>
              <a:ext cx="660400" cy="660400"/>
            </a:xfrm>
            <a:prstGeom prst="rect">
              <a:avLst/>
            </a:prstGeom>
          </p:spPr>
          <p:txBody>
            <a:bodyPr lIns="28575" tIns="28575" rIns="28575" bIns="28575" rtlCol="0" anchor="ctr"/>
            <a:lstStyle/>
            <a:p>
              <a:pPr algn="ctr">
                <a:lnSpc>
                  <a:spcPts val="1589"/>
                </a:lnSpc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-2494097" y="654433"/>
            <a:ext cx="4526045" cy="4526045"/>
            <a:chOff x="0" y="0"/>
            <a:chExt cx="812800" cy="81280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57150" cap="sq">
              <a:solidFill>
                <a:srgbClr val="837E7B">
                  <a:alpha val="24706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76200" y="76200"/>
              <a:ext cx="660400" cy="660400"/>
            </a:xfrm>
            <a:prstGeom prst="rect">
              <a:avLst/>
            </a:prstGeom>
          </p:spPr>
          <p:txBody>
            <a:bodyPr lIns="28575" tIns="28575" rIns="28575" bIns="28575" rtlCol="0" anchor="ctr"/>
            <a:lstStyle/>
            <a:p>
              <a:pPr algn="ctr">
                <a:lnSpc>
                  <a:spcPts val="1589"/>
                </a:lnSpc>
              </a:pPr>
              <a:endParaRPr/>
            </a:p>
          </p:txBody>
        </p:sp>
      </p:grpSp>
      <p:sp>
        <p:nvSpPr>
          <p:cNvPr id="11" name="Freeform 11"/>
          <p:cNvSpPr/>
          <p:nvPr/>
        </p:nvSpPr>
        <p:spPr>
          <a:xfrm>
            <a:off x="11862348" y="1879463"/>
            <a:ext cx="5010340" cy="5010340"/>
          </a:xfrm>
          <a:custGeom>
            <a:avLst/>
            <a:gdLst/>
            <a:ahLst/>
            <a:cxnLst/>
            <a:rect l="l" t="t" r="r" b="b"/>
            <a:pathLst>
              <a:path w="5010340" h="5010340">
                <a:moveTo>
                  <a:pt x="0" y="0"/>
                </a:moveTo>
                <a:lnTo>
                  <a:pt x="5010339" y="0"/>
                </a:lnTo>
                <a:lnTo>
                  <a:pt x="5010339" y="5010340"/>
                </a:lnTo>
                <a:lnTo>
                  <a:pt x="0" y="501034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58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sp>
        <p:nvSpPr>
          <p:cNvPr id="12" name="TextBox 12"/>
          <p:cNvSpPr txBox="1"/>
          <p:nvPr/>
        </p:nvSpPr>
        <p:spPr>
          <a:xfrm>
            <a:off x="409812" y="640095"/>
            <a:ext cx="9337426" cy="16317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4106"/>
              </a:lnSpc>
              <a:spcBef>
                <a:spcPct val="0"/>
              </a:spcBef>
            </a:pPr>
            <a:r>
              <a:rPr lang="en-US" sz="4831" b="1" dirty="0" err="1">
                <a:solidFill>
                  <a:srgbClr val="7189C2"/>
                </a:solidFill>
                <a:latin typeface="Nunito Sans Medium"/>
                <a:ea typeface="Nunito Sans Medium"/>
                <a:cs typeface="Nunito Sans Medium"/>
                <a:sym typeface="Nunito Sans Medium"/>
              </a:rPr>
              <a:t>Recursos</a:t>
            </a:r>
            <a:r>
              <a:rPr lang="en-US" sz="4831" b="1" dirty="0">
                <a:solidFill>
                  <a:srgbClr val="7189C2"/>
                </a:solidFill>
                <a:latin typeface="Nunito Sans Medium"/>
                <a:ea typeface="Nunito Sans Medium"/>
                <a:cs typeface="Nunito Sans Medium"/>
                <a:sym typeface="Nunito Sans Medium"/>
              </a:rPr>
              <a:t> </a:t>
            </a:r>
            <a:r>
              <a:rPr lang="en-US" sz="4831" b="1" dirty="0" err="1">
                <a:solidFill>
                  <a:srgbClr val="7189C2"/>
                </a:solidFill>
                <a:latin typeface="Nunito Sans Medium"/>
                <a:ea typeface="Nunito Sans Medium"/>
                <a:cs typeface="Nunito Sans Medium"/>
                <a:sym typeface="Nunito Sans Medium"/>
              </a:rPr>
              <a:t>administrativos</a:t>
            </a:r>
            <a:r>
              <a:rPr lang="en-US" sz="4831" b="1" dirty="0">
                <a:solidFill>
                  <a:srgbClr val="7189C2"/>
                </a:solidFill>
                <a:latin typeface="Nunito Sans Medium"/>
                <a:ea typeface="Nunito Sans Medium"/>
                <a:cs typeface="Nunito Sans Medium"/>
                <a:sym typeface="Nunito Sans Medium"/>
              </a:rPr>
              <a:t> para </a:t>
            </a:r>
            <a:r>
              <a:rPr lang="en-US" sz="4831" b="1" dirty="0" err="1">
                <a:solidFill>
                  <a:srgbClr val="7189C2"/>
                </a:solidFill>
                <a:latin typeface="Nunito Sans Medium"/>
                <a:ea typeface="Nunito Sans Medium"/>
                <a:cs typeface="Nunito Sans Medium"/>
                <a:sym typeface="Nunito Sans Medium"/>
              </a:rPr>
              <a:t>gerenciamento</a:t>
            </a:r>
            <a:r>
              <a:rPr lang="en-US" sz="4831" b="1" dirty="0">
                <a:solidFill>
                  <a:srgbClr val="7189C2"/>
                </a:solidFill>
                <a:latin typeface="Nunito Sans Medium"/>
                <a:ea typeface="Nunito Sans Medium"/>
                <a:cs typeface="Nunito Sans Medium"/>
                <a:sym typeface="Nunito Sans Medium"/>
              </a:rPr>
              <a:t> de </a:t>
            </a:r>
            <a:r>
              <a:rPr lang="en-US" sz="4831" b="1" dirty="0" err="1">
                <a:solidFill>
                  <a:srgbClr val="7189C2"/>
                </a:solidFill>
                <a:latin typeface="Nunito Sans Medium"/>
                <a:ea typeface="Nunito Sans Medium"/>
                <a:cs typeface="Nunito Sans Medium"/>
                <a:sym typeface="Nunito Sans Medium"/>
              </a:rPr>
              <a:t>usuários</a:t>
            </a:r>
            <a:r>
              <a:rPr lang="en-US" sz="4831" b="1" dirty="0">
                <a:solidFill>
                  <a:srgbClr val="7189C2"/>
                </a:solidFill>
                <a:latin typeface="Nunito Sans Medium"/>
                <a:ea typeface="Nunito Sans Medium"/>
                <a:cs typeface="Nunito Sans Medium"/>
                <a:sym typeface="Nunito Sans Medium"/>
              </a:rPr>
              <a:t>!</a:t>
            </a:r>
          </a:p>
          <a:p>
            <a:pPr marL="0" lvl="0" indent="0" algn="l">
              <a:lnSpc>
                <a:spcPts val="4106"/>
              </a:lnSpc>
              <a:spcBef>
                <a:spcPct val="0"/>
              </a:spcBef>
            </a:pPr>
            <a:endParaRPr lang="en-US" sz="4831" b="1" dirty="0">
              <a:solidFill>
                <a:srgbClr val="7189C2"/>
              </a:solidFill>
              <a:latin typeface="Nunito Sans Medium"/>
              <a:ea typeface="Nunito Sans Medium"/>
              <a:cs typeface="Nunito Sans Medium"/>
              <a:sym typeface="Nunito Sans Medium"/>
            </a:endParaRPr>
          </a:p>
        </p:txBody>
      </p:sp>
      <p:sp>
        <p:nvSpPr>
          <p:cNvPr id="13" name="TextBox 13"/>
          <p:cNvSpPr txBox="1"/>
          <p:nvPr/>
        </p:nvSpPr>
        <p:spPr>
          <a:xfrm rot="5400000">
            <a:off x="14221971" y="7838398"/>
            <a:ext cx="3473054" cy="4303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027"/>
              </a:lnSpc>
            </a:pPr>
            <a:r>
              <a:rPr lang="en-US" sz="3784" spc="140">
                <a:solidFill>
                  <a:srgbClr val="7189C2"/>
                </a:solidFill>
                <a:latin typeface="Nunito Sans"/>
                <a:ea typeface="Nunito Sans"/>
                <a:cs typeface="Nunito Sans"/>
                <a:sym typeface="Nunito Sans"/>
              </a:rPr>
              <a:t>USUÁRIOS</a:t>
            </a:r>
          </a:p>
        </p:txBody>
      </p:sp>
      <p:sp>
        <p:nvSpPr>
          <p:cNvPr id="14" name="Freeform 14"/>
          <p:cNvSpPr/>
          <p:nvPr/>
        </p:nvSpPr>
        <p:spPr>
          <a:xfrm rot="5400000">
            <a:off x="15452192" y="5149683"/>
            <a:ext cx="1221218" cy="1081985"/>
          </a:xfrm>
          <a:custGeom>
            <a:avLst/>
            <a:gdLst/>
            <a:ahLst/>
            <a:cxnLst/>
            <a:rect l="l" t="t" r="r" b="b"/>
            <a:pathLst>
              <a:path w="1221218" h="1081985">
                <a:moveTo>
                  <a:pt x="0" y="0"/>
                </a:moveTo>
                <a:lnTo>
                  <a:pt x="1221219" y="0"/>
                </a:lnTo>
                <a:lnTo>
                  <a:pt x="1221219" y="1081984"/>
                </a:lnTo>
                <a:lnTo>
                  <a:pt x="0" y="108198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121577" t="-29090" r="-117623" b="-80041"/>
            </a:stretch>
          </a:blipFill>
        </p:spPr>
        <p:txBody>
          <a:bodyPr/>
          <a:lstStyle/>
          <a:p>
            <a:endParaRPr lang="pt-BR"/>
          </a:p>
        </p:txBody>
      </p:sp>
      <p:sp>
        <p:nvSpPr>
          <p:cNvPr id="15" name="Freeform 15"/>
          <p:cNvSpPr/>
          <p:nvPr/>
        </p:nvSpPr>
        <p:spPr>
          <a:xfrm>
            <a:off x="2549686" y="2034743"/>
            <a:ext cx="12671948" cy="7364792"/>
          </a:xfrm>
          <a:custGeom>
            <a:avLst/>
            <a:gdLst/>
            <a:ahLst/>
            <a:cxnLst/>
            <a:rect l="l" t="t" r="r" b="b"/>
            <a:pathLst>
              <a:path w="12671948" h="7364792">
                <a:moveTo>
                  <a:pt x="0" y="0"/>
                </a:moveTo>
                <a:lnTo>
                  <a:pt x="12671947" y="0"/>
                </a:lnTo>
                <a:lnTo>
                  <a:pt x="12671947" y="7364793"/>
                </a:lnTo>
                <a:lnTo>
                  <a:pt x="0" y="7364793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5109" t="-9289" r="-4721" b="-10592"/>
            </a:stretch>
          </a:blipFill>
        </p:spPr>
        <p:txBody>
          <a:bodyPr/>
          <a:lstStyle/>
          <a:p>
            <a:endParaRPr lang="pt-BR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EBE9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FB80116-D336-FF50-152C-64B906547E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95BBDFC9-61F7-03B9-93C3-BA1D1D21DDE3}"/>
              </a:ext>
            </a:extLst>
          </p:cNvPr>
          <p:cNvSpPr/>
          <p:nvPr/>
        </p:nvSpPr>
        <p:spPr>
          <a:xfrm flipV="1">
            <a:off x="13180216" y="-1269811"/>
            <a:ext cx="5933796" cy="5944604"/>
          </a:xfrm>
          <a:custGeom>
            <a:avLst/>
            <a:gdLst/>
            <a:ahLst/>
            <a:cxnLst/>
            <a:rect l="l" t="t" r="r" b="b"/>
            <a:pathLst>
              <a:path w="5933796" h="5944604">
                <a:moveTo>
                  <a:pt x="0" y="5944604"/>
                </a:moveTo>
                <a:lnTo>
                  <a:pt x="5933796" y="5944604"/>
                </a:lnTo>
                <a:lnTo>
                  <a:pt x="5933796" y="0"/>
                </a:lnTo>
                <a:lnTo>
                  <a:pt x="0" y="0"/>
                </a:lnTo>
                <a:lnTo>
                  <a:pt x="0" y="5944604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sp>
        <p:nvSpPr>
          <p:cNvPr id="3" name="Freeform 3">
            <a:extLst>
              <a:ext uri="{FF2B5EF4-FFF2-40B4-BE49-F238E27FC236}">
                <a16:creationId xmlns:a16="http://schemas.microsoft.com/office/drawing/2014/main" id="{AAFB2826-F29C-635D-4497-C049B3FF62BA}"/>
              </a:ext>
            </a:extLst>
          </p:cNvPr>
          <p:cNvSpPr/>
          <p:nvPr/>
        </p:nvSpPr>
        <p:spPr>
          <a:xfrm flipV="1">
            <a:off x="0" y="7041434"/>
            <a:ext cx="5099372" cy="5108660"/>
          </a:xfrm>
          <a:custGeom>
            <a:avLst/>
            <a:gdLst/>
            <a:ahLst/>
            <a:cxnLst/>
            <a:rect l="l" t="t" r="r" b="b"/>
            <a:pathLst>
              <a:path w="5099372" h="5108660">
                <a:moveTo>
                  <a:pt x="0" y="5108660"/>
                </a:moveTo>
                <a:lnTo>
                  <a:pt x="5099372" y="5108660"/>
                </a:lnTo>
                <a:lnTo>
                  <a:pt x="5099372" y="0"/>
                </a:lnTo>
                <a:lnTo>
                  <a:pt x="0" y="0"/>
                </a:lnTo>
                <a:lnTo>
                  <a:pt x="0" y="510866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sp>
        <p:nvSpPr>
          <p:cNvPr id="4" name="Freeform 4">
            <a:extLst>
              <a:ext uri="{FF2B5EF4-FFF2-40B4-BE49-F238E27FC236}">
                <a16:creationId xmlns:a16="http://schemas.microsoft.com/office/drawing/2014/main" id="{16890BCD-06B6-33EF-651F-26D340A50434}"/>
              </a:ext>
            </a:extLst>
          </p:cNvPr>
          <p:cNvSpPr/>
          <p:nvPr/>
        </p:nvSpPr>
        <p:spPr>
          <a:xfrm>
            <a:off x="2736563" y="7041434"/>
            <a:ext cx="5010340" cy="5010340"/>
          </a:xfrm>
          <a:custGeom>
            <a:avLst/>
            <a:gdLst/>
            <a:ahLst/>
            <a:cxnLst/>
            <a:rect l="l" t="t" r="r" b="b"/>
            <a:pathLst>
              <a:path w="5010340" h="5010340">
                <a:moveTo>
                  <a:pt x="0" y="0"/>
                </a:moveTo>
                <a:lnTo>
                  <a:pt x="5010340" y="0"/>
                </a:lnTo>
                <a:lnTo>
                  <a:pt x="5010340" y="5010340"/>
                </a:lnTo>
                <a:lnTo>
                  <a:pt x="0" y="501034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58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grpSp>
        <p:nvGrpSpPr>
          <p:cNvPr id="5" name="Group 5">
            <a:extLst>
              <a:ext uri="{FF2B5EF4-FFF2-40B4-BE49-F238E27FC236}">
                <a16:creationId xmlns:a16="http://schemas.microsoft.com/office/drawing/2014/main" id="{9CC5F9A8-894F-6B4E-3D42-4AB217614F07}"/>
              </a:ext>
            </a:extLst>
          </p:cNvPr>
          <p:cNvGrpSpPr/>
          <p:nvPr/>
        </p:nvGrpSpPr>
        <p:grpSpPr>
          <a:xfrm>
            <a:off x="-952137" y="-2539392"/>
            <a:ext cx="4526045" cy="4526045"/>
            <a:chOff x="0" y="0"/>
            <a:chExt cx="812800" cy="812800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40B6E16E-5556-8D6A-9AA0-81D1FFCB4A0E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57150" cap="sq">
              <a:solidFill>
                <a:srgbClr val="0B0B0B">
                  <a:alpha val="24706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84914880-C789-02DB-A9B0-C063EEF35DC2}"/>
                </a:ext>
              </a:extLst>
            </p:cNvPr>
            <p:cNvSpPr txBox="1"/>
            <p:nvPr/>
          </p:nvSpPr>
          <p:spPr>
            <a:xfrm>
              <a:off x="76200" y="76200"/>
              <a:ext cx="660400" cy="660400"/>
            </a:xfrm>
            <a:prstGeom prst="rect">
              <a:avLst/>
            </a:prstGeom>
          </p:spPr>
          <p:txBody>
            <a:bodyPr lIns="28575" tIns="28575" rIns="28575" bIns="28575" rtlCol="0" anchor="ctr"/>
            <a:lstStyle/>
            <a:p>
              <a:pPr algn="ctr">
                <a:lnSpc>
                  <a:spcPts val="1589"/>
                </a:lnSpc>
              </a:pPr>
              <a:endParaRPr/>
            </a:p>
          </p:txBody>
        </p:sp>
      </p:grpSp>
      <p:grpSp>
        <p:nvGrpSpPr>
          <p:cNvPr id="8" name="Group 8">
            <a:extLst>
              <a:ext uri="{FF2B5EF4-FFF2-40B4-BE49-F238E27FC236}">
                <a16:creationId xmlns:a16="http://schemas.microsoft.com/office/drawing/2014/main" id="{350C5CCE-7EE2-C696-1B5C-4572C58DBF50}"/>
              </a:ext>
            </a:extLst>
          </p:cNvPr>
          <p:cNvGrpSpPr/>
          <p:nvPr/>
        </p:nvGrpSpPr>
        <p:grpSpPr>
          <a:xfrm>
            <a:off x="-2494097" y="654433"/>
            <a:ext cx="4526045" cy="4526045"/>
            <a:chOff x="0" y="0"/>
            <a:chExt cx="812800" cy="812800"/>
          </a:xfrm>
        </p:grpSpPr>
        <p:sp>
          <p:nvSpPr>
            <p:cNvPr id="9" name="Freeform 9">
              <a:extLst>
                <a:ext uri="{FF2B5EF4-FFF2-40B4-BE49-F238E27FC236}">
                  <a16:creationId xmlns:a16="http://schemas.microsoft.com/office/drawing/2014/main" id="{7EC18A83-787B-C607-1D71-8DB54AD53658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57150" cap="sq">
              <a:solidFill>
                <a:srgbClr val="837E7B">
                  <a:alpha val="24706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10" name="TextBox 10">
              <a:extLst>
                <a:ext uri="{FF2B5EF4-FFF2-40B4-BE49-F238E27FC236}">
                  <a16:creationId xmlns:a16="http://schemas.microsoft.com/office/drawing/2014/main" id="{763A68ED-C3D4-D0AC-CEA0-89BB77A77B35}"/>
                </a:ext>
              </a:extLst>
            </p:cNvPr>
            <p:cNvSpPr txBox="1"/>
            <p:nvPr/>
          </p:nvSpPr>
          <p:spPr>
            <a:xfrm>
              <a:off x="76200" y="76200"/>
              <a:ext cx="660400" cy="660400"/>
            </a:xfrm>
            <a:prstGeom prst="rect">
              <a:avLst/>
            </a:prstGeom>
          </p:spPr>
          <p:txBody>
            <a:bodyPr lIns="28575" tIns="28575" rIns="28575" bIns="28575" rtlCol="0" anchor="ctr"/>
            <a:lstStyle/>
            <a:p>
              <a:pPr algn="ctr">
                <a:lnSpc>
                  <a:spcPts val="1589"/>
                </a:lnSpc>
              </a:pPr>
              <a:endParaRPr/>
            </a:p>
          </p:txBody>
        </p:sp>
      </p:grpSp>
      <p:sp>
        <p:nvSpPr>
          <p:cNvPr id="11" name="Freeform 11">
            <a:extLst>
              <a:ext uri="{FF2B5EF4-FFF2-40B4-BE49-F238E27FC236}">
                <a16:creationId xmlns:a16="http://schemas.microsoft.com/office/drawing/2014/main" id="{B0887FDD-16B5-3A5C-AFFB-CB61CA3ED656}"/>
              </a:ext>
            </a:extLst>
          </p:cNvPr>
          <p:cNvSpPr/>
          <p:nvPr/>
        </p:nvSpPr>
        <p:spPr>
          <a:xfrm>
            <a:off x="11862348" y="1879463"/>
            <a:ext cx="5010340" cy="5010340"/>
          </a:xfrm>
          <a:custGeom>
            <a:avLst/>
            <a:gdLst/>
            <a:ahLst/>
            <a:cxnLst/>
            <a:rect l="l" t="t" r="r" b="b"/>
            <a:pathLst>
              <a:path w="5010340" h="5010340">
                <a:moveTo>
                  <a:pt x="0" y="0"/>
                </a:moveTo>
                <a:lnTo>
                  <a:pt x="5010339" y="0"/>
                </a:lnTo>
                <a:lnTo>
                  <a:pt x="5010339" y="5010340"/>
                </a:lnTo>
                <a:lnTo>
                  <a:pt x="0" y="501034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58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sp>
        <p:nvSpPr>
          <p:cNvPr id="12" name="TextBox 12">
            <a:extLst>
              <a:ext uri="{FF2B5EF4-FFF2-40B4-BE49-F238E27FC236}">
                <a16:creationId xmlns:a16="http://schemas.microsoft.com/office/drawing/2014/main" id="{76006C7F-0C13-3435-5E2E-88C3F3370443}"/>
              </a:ext>
            </a:extLst>
          </p:cNvPr>
          <p:cNvSpPr txBox="1"/>
          <p:nvPr/>
        </p:nvSpPr>
        <p:spPr>
          <a:xfrm>
            <a:off x="409812" y="640095"/>
            <a:ext cx="9337426" cy="16317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4106"/>
              </a:lnSpc>
              <a:spcBef>
                <a:spcPct val="0"/>
              </a:spcBef>
            </a:pPr>
            <a:r>
              <a:rPr lang="en-US" sz="4831" b="1" dirty="0" err="1">
                <a:solidFill>
                  <a:srgbClr val="7189C2"/>
                </a:solidFill>
                <a:latin typeface="Nunito Sans Medium"/>
                <a:ea typeface="Nunito Sans Medium"/>
                <a:cs typeface="Nunito Sans Medium"/>
                <a:sym typeface="Nunito Sans Medium"/>
              </a:rPr>
              <a:t>Adicione</a:t>
            </a:r>
            <a:r>
              <a:rPr lang="en-US" sz="4831" b="1" dirty="0">
                <a:solidFill>
                  <a:srgbClr val="7189C2"/>
                </a:solidFill>
                <a:latin typeface="Nunito Sans Medium"/>
                <a:ea typeface="Nunito Sans Medium"/>
                <a:cs typeface="Nunito Sans Medium"/>
                <a:sym typeface="Nunito Sans Medium"/>
              </a:rPr>
              <a:t> </a:t>
            </a:r>
            <a:r>
              <a:rPr lang="en-US" sz="4831" b="1" dirty="0" err="1">
                <a:solidFill>
                  <a:srgbClr val="7189C2"/>
                </a:solidFill>
                <a:latin typeface="Nunito Sans Medium"/>
                <a:ea typeface="Nunito Sans Medium"/>
                <a:cs typeface="Nunito Sans Medium"/>
                <a:sym typeface="Nunito Sans Medium"/>
              </a:rPr>
              <a:t>usuários</a:t>
            </a:r>
            <a:r>
              <a:rPr lang="en-US" sz="4831" b="1" dirty="0">
                <a:solidFill>
                  <a:srgbClr val="7189C2"/>
                </a:solidFill>
                <a:latin typeface="Nunito Sans Medium"/>
                <a:ea typeface="Nunito Sans Medium"/>
                <a:cs typeface="Nunito Sans Medium"/>
                <a:sym typeface="Nunito Sans Medium"/>
              </a:rPr>
              <a:t> à </a:t>
            </a:r>
            <a:r>
              <a:rPr lang="en-US" sz="4831" b="1" dirty="0" err="1">
                <a:solidFill>
                  <a:srgbClr val="7189C2"/>
                </a:solidFill>
                <a:latin typeface="Nunito Sans Medium"/>
                <a:ea typeface="Nunito Sans Medium"/>
                <a:cs typeface="Nunito Sans Medium"/>
                <a:sym typeface="Nunito Sans Medium"/>
              </a:rPr>
              <a:t>sua</a:t>
            </a:r>
            <a:r>
              <a:rPr lang="en-US" sz="4831" b="1" dirty="0">
                <a:solidFill>
                  <a:srgbClr val="7189C2"/>
                </a:solidFill>
                <a:latin typeface="Nunito Sans Medium"/>
                <a:ea typeface="Nunito Sans Medium"/>
                <a:cs typeface="Nunito Sans Medium"/>
                <a:sym typeface="Nunito Sans Medium"/>
              </a:rPr>
              <a:t> </a:t>
            </a:r>
            <a:r>
              <a:rPr lang="en-US" sz="4831" b="1" dirty="0" err="1">
                <a:solidFill>
                  <a:srgbClr val="7189C2"/>
                </a:solidFill>
                <a:latin typeface="Nunito Sans Medium"/>
                <a:ea typeface="Nunito Sans Medium"/>
                <a:cs typeface="Nunito Sans Medium"/>
                <a:sym typeface="Nunito Sans Medium"/>
              </a:rPr>
              <a:t>instância</a:t>
            </a:r>
            <a:r>
              <a:rPr lang="en-US" sz="4831" b="1" dirty="0">
                <a:solidFill>
                  <a:srgbClr val="7189C2"/>
                </a:solidFill>
                <a:latin typeface="Nunito Sans Medium"/>
                <a:ea typeface="Nunito Sans Medium"/>
                <a:cs typeface="Nunito Sans Medium"/>
                <a:sym typeface="Nunito Sans Medium"/>
              </a:rPr>
              <a:t>!</a:t>
            </a:r>
          </a:p>
          <a:p>
            <a:pPr marL="0" lvl="0" indent="0" algn="l">
              <a:lnSpc>
                <a:spcPts val="4106"/>
              </a:lnSpc>
              <a:spcBef>
                <a:spcPct val="0"/>
              </a:spcBef>
            </a:pPr>
            <a:endParaRPr lang="en-US" sz="4831" b="1" dirty="0">
              <a:solidFill>
                <a:srgbClr val="7189C2"/>
              </a:solidFill>
              <a:latin typeface="Nunito Sans Medium"/>
              <a:ea typeface="Nunito Sans Medium"/>
              <a:cs typeface="Nunito Sans Medium"/>
              <a:sym typeface="Nunito Sans Medium"/>
            </a:endParaRPr>
          </a:p>
        </p:txBody>
      </p:sp>
      <p:sp>
        <p:nvSpPr>
          <p:cNvPr id="13" name="TextBox 13">
            <a:extLst>
              <a:ext uri="{FF2B5EF4-FFF2-40B4-BE49-F238E27FC236}">
                <a16:creationId xmlns:a16="http://schemas.microsoft.com/office/drawing/2014/main" id="{159D8948-279A-1F33-16FC-EDA525C750AB}"/>
              </a:ext>
            </a:extLst>
          </p:cNvPr>
          <p:cNvSpPr txBox="1"/>
          <p:nvPr/>
        </p:nvSpPr>
        <p:spPr>
          <a:xfrm rot="5400000">
            <a:off x="14221971" y="7838398"/>
            <a:ext cx="3473054" cy="4303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027"/>
              </a:lnSpc>
            </a:pPr>
            <a:r>
              <a:rPr lang="en-US" sz="3784" spc="140">
                <a:solidFill>
                  <a:srgbClr val="7189C2"/>
                </a:solidFill>
                <a:latin typeface="Nunito Sans"/>
                <a:ea typeface="Nunito Sans"/>
                <a:cs typeface="Nunito Sans"/>
                <a:sym typeface="Nunito Sans"/>
              </a:rPr>
              <a:t>USUÁRIOS</a:t>
            </a:r>
          </a:p>
        </p:txBody>
      </p:sp>
      <p:sp>
        <p:nvSpPr>
          <p:cNvPr id="14" name="Freeform 14">
            <a:extLst>
              <a:ext uri="{FF2B5EF4-FFF2-40B4-BE49-F238E27FC236}">
                <a16:creationId xmlns:a16="http://schemas.microsoft.com/office/drawing/2014/main" id="{CFEC9E4F-5824-A33C-0118-DA8800A42A5E}"/>
              </a:ext>
            </a:extLst>
          </p:cNvPr>
          <p:cNvSpPr/>
          <p:nvPr/>
        </p:nvSpPr>
        <p:spPr>
          <a:xfrm rot="5400000">
            <a:off x="15452192" y="5149683"/>
            <a:ext cx="1221218" cy="1081985"/>
          </a:xfrm>
          <a:custGeom>
            <a:avLst/>
            <a:gdLst/>
            <a:ahLst/>
            <a:cxnLst/>
            <a:rect l="l" t="t" r="r" b="b"/>
            <a:pathLst>
              <a:path w="1221218" h="1081985">
                <a:moveTo>
                  <a:pt x="0" y="0"/>
                </a:moveTo>
                <a:lnTo>
                  <a:pt x="1221219" y="0"/>
                </a:lnTo>
                <a:lnTo>
                  <a:pt x="1221219" y="1081984"/>
                </a:lnTo>
                <a:lnTo>
                  <a:pt x="0" y="108198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121577" t="-29090" r="-117623" b="-80041"/>
            </a:stretch>
          </a:blipFill>
        </p:spPr>
        <p:txBody>
          <a:bodyPr/>
          <a:lstStyle/>
          <a:p>
            <a:endParaRPr lang="pt-BR"/>
          </a:p>
        </p:txBody>
      </p:sp>
      <p:sp>
        <p:nvSpPr>
          <p:cNvPr id="15" name="Freeform 15">
            <a:extLst>
              <a:ext uri="{FF2B5EF4-FFF2-40B4-BE49-F238E27FC236}">
                <a16:creationId xmlns:a16="http://schemas.microsoft.com/office/drawing/2014/main" id="{E3DE6019-7B26-603F-3D52-C5F6C556DD0A}"/>
              </a:ext>
            </a:extLst>
          </p:cNvPr>
          <p:cNvSpPr/>
          <p:nvPr/>
        </p:nvSpPr>
        <p:spPr>
          <a:xfrm>
            <a:off x="2549686" y="2034743"/>
            <a:ext cx="12671948" cy="7364792"/>
          </a:xfrm>
          <a:custGeom>
            <a:avLst/>
            <a:gdLst/>
            <a:ahLst/>
            <a:cxnLst/>
            <a:rect l="l" t="t" r="r" b="b"/>
            <a:pathLst>
              <a:path w="12671948" h="7364792">
                <a:moveTo>
                  <a:pt x="0" y="0"/>
                </a:moveTo>
                <a:lnTo>
                  <a:pt x="12671947" y="0"/>
                </a:lnTo>
                <a:lnTo>
                  <a:pt x="12671947" y="7364793"/>
                </a:lnTo>
                <a:lnTo>
                  <a:pt x="0" y="7364793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5109" t="-9289" r="-4721" b="-10592"/>
            </a:stretch>
          </a:blipFill>
        </p:spPr>
        <p:txBody>
          <a:bodyPr/>
          <a:lstStyle/>
          <a:p>
            <a:endParaRPr lang="pt-BR" dirty="0"/>
          </a:p>
        </p:txBody>
      </p:sp>
      <p:pic>
        <p:nvPicPr>
          <p:cNvPr id="17" name="Imagem 16">
            <a:extLst>
              <a:ext uri="{FF2B5EF4-FFF2-40B4-BE49-F238E27FC236}">
                <a16:creationId xmlns:a16="http://schemas.microsoft.com/office/drawing/2014/main" id="{2228EFA5-0327-EF94-31FC-11CF2F425F7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857826" y="2890496"/>
            <a:ext cx="4572347" cy="56003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03671270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EBE9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71F47DF-17C9-91E6-52DB-33BDF4536D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CEFCA9D6-D89E-C8B7-FFC4-48DAD1090B30}"/>
              </a:ext>
            </a:extLst>
          </p:cNvPr>
          <p:cNvSpPr/>
          <p:nvPr/>
        </p:nvSpPr>
        <p:spPr>
          <a:xfrm flipV="1">
            <a:off x="13180216" y="-1269811"/>
            <a:ext cx="5933796" cy="5944604"/>
          </a:xfrm>
          <a:custGeom>
            <a:avLst/>
            <a:gdLst/>
            <a:ahLst/>
            <a:cxnLst/>
            <a:rect l="l" t="t" r="r" b="b"/>
            <a:pathLst>
              <a:path w="5933796" h="5944604">
                <a:moveTo>
                  <a:pt x="0" y="5944604"/>
                </a:moveTo>
                <a:lnTo>
                  <a:pt x="5933796" y="5944604"/>
                </a:lnTo>
                <a:lnTo>
                  <a:pt x="5933796" y="0"/>
                </a:lnTo>
                <a:lnTo>
                  <a:pt x="0" y="0"/>
                </a:lnTo>
                <a:lnTo>
                  <a:pt x="0" y="5944604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sp>
        <p:nvSpPr>
          <p:cNvPr id="3" name="Freeform 3">
            <a:extLst>
              <a:ext uri="{FF2B5EF4-FFF2-40B4-BE49-F238E27FC236}">
                <a16:creationId xmlns:a16="http://schemas.microsoft.com/office/drawing/2014/main" id="{BCB7BCA4-D207-4A61-FBA8-A18B4D6E0D74}"/>
              </a:ext>
            </a:extLst>
          </p:cNvPr>
          <p:cNvSpPr/>
          <p:nvPr/>
        </p:nvSpPr>
        <p:spPr>
          <a:xfrm flipV="1">
            <a:off x="0" y="7041434"/>
            <a:ext cx="5099372" cy="5108660"/>
          </a:xfrm>
          <a:custGeom>
            <a:avLst/>
            <a:gdLst/>
            <a:ahLst/>
            <a:cxnLst/>
            <a:rect l="l" t="t" r="r" b="b"/>
            <a:pathLst>
              <a:path w="5099372" h="5108660">
                <a:moveTo>
                  <a:pt x="0" y="5108660"/>
                </a:moveTo>
                <a:lnTo>
                  <a:pt x="5099372" y="5108660"/>
                </a:lnTo>
                <a:lnTo>
                  <a:pt x="5099372" y="0"/>
                </a:lnTo>
                <a:lnTo>
                  <a:pt x="0" y="0"/>
                </a:lnTo>
                <a:lnTo>
                  <a:pt x="0" y="510866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sp>
        <p:nvSpPr>
          <p:cNvPr id="4" name="Freeform 4">
            <a:extLst>
              <a:ext uri="{FF2B5EF4-FFF2-40B4-BE49-F238E27FC236}">
                <a16:creationId xmlns:a16="http://schemas.microsoft.com/office/drawing/2014/main" id="{2B02C156-DC87-ADFF-6A56-6B1BB5335ECA}"/>
              </a:ext>
            </a:extLst>
          </p:cNvPr>
          <p:cNvSpPr/>
          <p:nvPr/>
        </p:nvSpPr>
        <p:spPr>
          <a:xfrm>
            <a:off x="2736563" y="7041434"/>
            <a:ext cx="5010340" cy="5010340"/>
          </a:xfrm>
          <a:custGeom>
            <a:avLst/>
            <a:gdLst/>
            <a:ahLst/>
            <a:cxnLst/>
            <a:rect l="l" t="t" r="r" b="b"/>
            <a:pathLst>
              <a:path w="5010340" h="5010340">
                <a:moveTo>
                  <a:pt x="0" y="0"/>
                </a:moveTo>
                <a:lnTo>
                  <a:pt x="5010340" y="0"/>
                </a:lnTo>
                <a:lnTo>
                  <a:pt x="5010340" y="5010340"/>
                </a:lnTo>
                <a:lnTo>
                  <a:pt x="0" y="501034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58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grpSp>
        <p:nvGrpSpPr>
          <p:cNvPr id="5" name="Group 5">
            <a:extLst>
              <a:ext uri="{FF2B5EF4-FFF2-40B4-BE49-F238E27FC236}">
                <a16:creationId xmlns:a16="http://schemas.microsoft.com/office/drawing/2014/main" id="{07DBF71D-2D64-2D58-9918-5F919C33107A}"/>
              </a:ext>
            </a:extLst>
          </p:cNvPr>
          <p:cNvGrpSpPr/>
          <p:nvPr/>
        </p:nvGrpSpPr>
        <p:grpSpPr>
          <a:xfrm>
            <a:off x="-952137" y="-2539392"/>
            <a:ext cx="4526045" cy="4526045"/>
            <a:chOff x="0" y="0"/>
            <a:chExt cx="812800" cy="812800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691E1330-605D-CE5E-0E7B-4FC0E9054039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57150" cap="sq">
              <a:solidFill>
                <a:srgbClr val="0B0B0B">
                  <a:alpha val="24706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E3A0A941-B154-C72F-E44F-0E02CB55B08F}"/>
                </a:ext>
              </a:extLst>
            </p:cNvPr>
            <p:cNvSpPr txBox="1"/>
            <p:nvPr/>
          </p:nvSpPr>
          <p:spPr>
            <a:xfrm>
              <a:off x="76200" y="76200"/>
              <a:ext cx="660400" cy="660400"/>
            </a:xfrm>
            <a:prstGeom prst="rect">
              <a:avLst/>
            </a:prstGeom>
          </p:spPr>
          <p:txBody>
            <a:bodyPr lIns="28575" tIns="28575" rIns="28575" bIns="28575" rtlCol="0" anchor="ctr"/>
            <a:lstStyle/>
            <a:p>
              <a:pPr algn="ctr">
                <a:lnSpc>
                  <a:spcPts val="1589"/>
                </a:lnSpc>
              </a:pPr>
              <a:endParaRPr/>
            </a:p>
          </p:txBody>
        </p:sp>
      </p:grpSp>
      <p:grpSp>
        <p:nvGrpSpPr>
          <p:cNvPr id="8" name="Group 8">
            <a:extLst>
              <a:ext uri="{FF2B5EF4-FFF2-40B4-BE49-F238E27FC236}">
                <a16:creationId xmlns:a16="http://schemas.microsoft.com/office/drawing/2014/main" id="{579F9EF6-9029-3617-5083-F595C4DF9C8B}"/>
              </a:ext>
            </a:extLst>
          </p:cNvPr>
          <p:cNvGrpSpPr/>
          <p:nvPr/>
        </p:nvGrpSpPr>
        <p:grpSpPr>
          <a:xfrm>
            <a:off x="-2494097" y="654433"/>
            <a:ext cx="4526045" cy="4526045"/>
            <a:chOff x="0" y="0"/>
            <a:chExt cx="812800" cy="812800"/>
          </a:xfrm>
        </p:grpSpPr>
        <p:sp>
          <p:nvSpPr>
            <p:cNvPr id="9" name="Freeform 9">
              <a:extLst>
                <a:ext uri="{FF2B5EF4-FFF2-40B4-BE49-F238E27FC236}">
                  <a16:creationId xmlns:a16="http://schemas.microsoft.com/office/drawing/2014/main" id="{392877C4-B5FB-6CAD-BE52-2F069874AB09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57150" cap="sq">
              <a:solidFill>
                <a:srgbClr val="837E7B">
                  <a:alpha val="24706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10" name="TextBox 10">
              <a:extLst>
                <a:ext uri="{FF2B5EF4-FFF2-40B4-BE49-F238E27FC236}">
                  <a16:creationId xmlns:a16="http://schemas.microsoft.com/office/drawing/2014/main" id="{2AB53CE6-D1A8-8B3F-198D-9FDEECBC851E}"/>
                </a:ext>
              </a:extLst>
            </p:cNvPr>
            <p:cNvSpPr txBox="1"/>
            <p:nvPr/>
          </p:nvSpPr>
          <p:spPr>
            <a:xfrm>
              <a:off x="76200" y="76200"/>
              <a:ext cx="660400" cy="660400"/>
            </a:xfrm>
            <a:prstGeom prst="rect">
              <a:avLst/>
            </a:prstGeom>
          </p:spPr>
          <p:txBody>
            <a:bodyPr lIns="28575" tIns="28575" rIns="28575" bIns="28575" rtlCol="0" anchor="ctr"/>
            <a:lstStyle/>
            <a:p>
              <a:pPr algn="ctr">
                <a:lnSpc>
                  <a:spcPts val="1589"/>
                </a:lnSpc>
              </a:pPr>
              <a:endParaRPr/>
            </a:p>
          </p:txBody>
        </p:sp>
      </p:grpSp>
      <p:sp>
        <p:nvSpPr>
          <p:cNvPr id="11" name="Freeform 11">
            <a:extLst>
              <a:ext uri="{FF2B5EF4-FFF2-40B4-BE49-F238E27FC236}">
                <a16:creationId xmlns:a16="http://schemas.microsoft.com/office/drawing/2014/main" id="{7C1A7450-02E7-6487-D407-7C228060E2BD}"/>
              </a:ext>
            </a:extLst>
          </p:cNvPr>
          <p:cNvSpPr/>
          <p:nvPr/>
        </p:nvSpPr>
        <p:spPr>
          <a:xfrm>
            <a:off x="11862348" y="1879463"/>
            <a:ext cx="5010340" cy="5010340"/>
          </a:xfrm>
          <a:custGeom>
            <a:avLst/>
            <a:gdLst/>
            <a:ahLst/>
            <a:cxnLst/>
            <a:rect l="l" t="t" r="r" b="b"/>
            <a:pathLst>
              <a:path w="5010340" h="5010340">
                <a:moveTo>
                  <a:pt x="0" y="0"/>
                </a:moveTo>
                <a:lnTo>
                  <a:pt x="5010339" y="0"/>
                </a:lnTo>
                <a:lnTo>
                  <a:pt x="5010339" y="5010340"/>
                </a:lnTo>
                <a:lnTo>
                  <a:pt x="0" y="501034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58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sp>
        <p:nvSpPr>
          <p:cNvPr id="12" name="TextBox 12">
            <a:extLst>
              <a:ext uri="{FF2B5EF4-FFF2-40B4-BE49-F238E27FC236}">
                <a16:creationId xmlns:a16="http://schemas.microsoft.com/office/drawing/2014/main" id="{A605EDA1-618A-C245-D881-879EBFD8AB20}"/>
              </a:ext>
            </a:extLst>
          </p:cNvPr>
          <p:cNvSpPr txBox="1"/>
          <p:nvPr/>
        </p:nvSpPr>
        <p:spPr>
          <a:xfrm>
            <a:off x="409812" y="640095"/>
            <a:ext cx="9337426" cy="16317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4106"/>
              </a:lnSpc>
              <a:spcBef>
                <a:spcPct val="0"/>
              </a:spcBef>
            </a:pPr>
            <a:r>
              <a:rPr lang="en-US" sz="4831" b="1" dirty="0">
                <a:solidFill>
                  <a:srgbClr val="7189C2"/>
                </a:solidFill>
                <a:latin typeface="Nunito Sans Medium"/>
                <a:ea typeface="Nunito Sans Medium"/>
                <a:cs typeface="Nunito Sans Medium"/>
                <a:sym typeface="Nunito Sans Medium"/>
              </a:rPr>
              <a:t>Edite as </a:t>
            </a:r>
            <a:r>
              <a:rPr lang="en-US" sz="4831" b="1" dirty="0" err="1">
                <a:solidFill>
                  <a:srgbClr val="7189C2"/>
                </a:solidFill>
                <a:latin typeface="Nunito Sans Medium"/>
                <a:ea typeface="Nunito Sans Medium"/>
                <a:cs typeface="Nunito Sans Medium"/>
                <a:sym typeface="Nunito Sans Medium"/>
              </a:rPr>
              <a:t>informações</a:t>
            </a:r>
            <a:r>
              <a:rPr lang="en-US" sz="4831" b="1" dirty="0">
                <a:solidFill>
                  <a:srgbClr val="7189C2"/>
                </a:solidFill>
                <a:latin typeface="Nunito Sans Medium"/>
                <a:ea typeface="Nunito Sans Medium"/>
                <a:cs typeface="Nunito Sans Medium"/>
                <a:sym typeface="Nunito Sans Medium"/>
              </a:rPr>
              <a:t> dos </a:t>
            </a:r>
            <a:r>
              <a:rPr lang="en-US" sz="4831" b="1" dirty="0" err="1">
                <a:solidFill>
                  <a:srgbClr val="7189C2"/>
                </a:solidFill>
                <a:latin typeface="Nunito Sans Medium"/>
                <a:ea typeface="Nunito Sans Medium"/>
                <a:cs typeface="Nunito Sans Medium"/>
                <a:sym typeface="Nunito Sans Medium"/>
              </a:rPr>
              <a:t>usuários</a:t>
            </a:r>
            <a:r>
              <a:rPr lang="en-US" sz="4831" b="1" dirty="0">
                <a:solidFill>
                  <a:srgbClr val="7189C2"/>
                </a:solidFill>
                <a:latin typeface="Nunito Sans Medium"/>
                <a:ea typeface="Nunito Sans Medium"/>
                <a:cs typeface="Nunito Sans Medium"/>
                <a:sym typeface="Nunito Sans Medium"/>
              </a:rPr>
              <a:t>!</a:t>
            </a:r>
          </a:p>
          <a:p>
            <a:pPr marL="0" lvl="0" indent="0" algn="l">
              <a:lnSpc>
                <a:spcPts val="4106"/>
              </a:lnSpc>
              <a:spcBef>
                <a:spcPct val="0"/>
              </a:spcBef>
            </a:pPr>
            <a:endParaRPr lang="en-US" sz="4831" b="1" dirty="0">
              <a:solidFill>
                <a:srgbClr val="7189C2"/>
              </a:solidFill>
              <a:latin typeface="Nunito Sans Medium"/>
              <a:ea typeface="Nunito Sans Medium"/>
              <a:cs typeface="Nunito Sans Medium"/>
              <a:sym typeface="Nunito Sans Medium"/>
            </a:endParaRPr>
          </a:p>
        </p:txBody>
      </p:sp>
      <p:sp>
        <p:nvSpPr>
          <p:cNvPr id="13" name="TextBox 13">
            <a:extLst>
              <a:ext uri="{FF2B5EF4-FFF2-40B4-BE49-F238E27FC236}">
                <a16:creationId xmlns:a16="http://schemas.microsoft.com/office/drawing/2014/main" id="{D134D7D7-7C00-8889-D816-B8254F514066}"/>
              </a:ext>
            </a:extLst>
          </p:cNvPr>
          <p:cNvSpPr txBox="1"/>
          <p:nvPr/>
        </p:nvSpPr>
        <p:spPr>
          <a:xfrm rot="5400000">
            <a:off x="14221971" y="7838398"/>
            <a:ext cx="3473054" cy="4303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027"/>
              </a:lnSpc>
            </a:pPr>
            <a:r>
              <a:rPr lang="en-US" sz="3784" spc="140">
                <a:solidFill>
                  <a:srgbClr val="7189C2"/>
                </a:solidFill>
                <a:latin typeface="Nunito Sans"/>
                <a:ea typeface="Nunito Sans"/>
                <a:cs typeface="Nunito Sans"/>
                <a:sym typeface="Nunito Sans"/>
              </a:rPr>
              <a:t>USUÁRIOS</a:t>
            </a:r>
          </a:p>
        </p:txBody>
      </p:sp>
      <p:sp>
        <p:nvSpPr>
          <p:cNvPr id="14" name="Freeform 14">
            <a:extLst>
              <a:ext uri="{FF2B5EF4-FFF2-40B4-BE49-F238E27FC236}">
                <a16:creationId xmlns:a16="http://schemas.microsoft.com/office/drawing/2014/main" id="{E22A5CDA-D077-E5E1-1516-AB8583876486}"/>
              </a:ext>
            </a:extLst>
          </p:cNvPr>
          <p:cNvSpPr/>
          <p:nvPr/>
        </p:nvSpPr>
        <p:spPr>
          <a:xfrm rot="5400000">
            <a:off x="15452192" y="5149683"/>
            <a:ext cx="1221218" cy="1081985"/>
          </a:xfrm>
          <a:custGeom>
            <a:avLst/>
            <a:gdLst/>
            <a:ahLst/>
            <a:cxnLst/>
            <a:rect l="l" t="t" r="r" b="b"/>
            <a:pathLst>
              <a:path w="1221218" h="1081985">
                <a:moveTo>
                  <a:pt x="0" y="0"/>
                </a:moveTo>
                <a:lnTo>
                  <a:pt x="1221219" y="0"/>
                </a:lnTo>
                <a:lnTo>
                  <a:pt x="1221219" y="1081984"/>
                </a:lnTo>
                <a:lnTo>
                  <a:pt x="0" y="108198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121577" t="-29090" r="-117623" b="-80041"/>
            </a:stretch>
          </a:blipFill>
        </p:spPr>
        <p:txBody>
          <a:bodyPr/>
          <a:lstStyle/>
          <a:p>
            <a:endParaRPr lang="pt-BR"/>
          </a:p>
        </p:txBody>
      </p:sp>
      <p:sp>
        <p:nvSpPr>
          <p:cNvPr id="15" name="Freeform 15">
            <a:extLst>
              <a:ext uri="{FF2B5EF4-FFF2-40B4-BE49-F238E27FC236}">
                <a16:creationId xmlns:a16="http://schemas.microsoft.com/office/drawing/2014/main" id="{116B27F5-6300-8889-93F4-C6B9EAA65249}"/>
              </a:ext>
            </a:extLst>
          </p:cNvPr>
          <p:cNvSpPr/>
          <p:nvPr/>
        </p:nvSpPr>
        <p:spPr>
          <a:xfrm>
            <a:off x="2549686" y="2034743"/>
            <a:ext cx="12671948" cy="7364792"/>
          </a:xfrm>
          <a:custGeom>
            <a:avLst/>
            <a:gdLst/>
            <a:ahLst/>
            <a:cxnLst/>
            <a:rect l="l" t="t" r="r" b="b"/>
            <a:pathLst>
              <a:path w="12671948" h="7364792">
                <a:moveTo>
                  <a:pt x="0" y="0"/>
                </a:moveTo>
                <a:lnTo>
                  <a:pt x="12671947" y="0"/>
                </a:lnTo>
                <a:lnTo>
                  <a:pt x="12671947" y="7364793"/>
                </a:lnTo>
                <a:lnTo>
                  <a:pt x="0" y="7364793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5109" t="-9289" r="-4721" b="-10592"/>
            </a:stretch>
          </a:blipFill>
        </p:spPr>
        <p:txBody>
          <a:bodyPr/>
          <a:lstStyle/>
          <a:p>
            <a:endParaRPr lang="pt-BR" dirty="0"/>
          </a:p>
        </p:txBody>
      </p:sp>
      <p:pic>
        <p:nvPicPr>
          <p:cNvPr id="18" name="Imagem 17">
            <a:extLst>
              <a:ext uri="{FF2B5EF4-FFF2-40B4-BE49-F238E27FC236}">
                <a16:creationId xmlns:a16="http://schemas.microsoft.com/office/drawing/2014/main" id="{E343841A-B5F5-6D9B-6481-42160CBEA68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794253" y="3100637"/>
            <a:ext cx="4190166" cy="51800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57855238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EBE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flipV="1">
            <a:off x="13332616" y="-1117411"/>
            <a:ext cx="5933796" cy="5944604"/>
          </a:xfrm>
          <a:custGeom>
            <a:avLst/>
            <a:gdLst/>
            <a:ahLst/>
            <a:cxnLst/>
            <a:rect l="l" t="t" r="r" b="b"/>
            <a:pathLst>
              <a:path w="5933796" h="5944604">
                <a:moveTo>
                  <a:pt x="0" y="5944604"/>
                </a:moveTo>
                <a:lnTo>
                  <a:pt x="5933796" y="5944604"/>
                </a:lnTo>
                <a:lnTo>
                  <a:pt x="5933796" y="0"/>
                </a:lnTo>
                <a:lnTo>
                  <a:pt x="0" y="0"/>
                </a:lnTo>
                <a:lnTo>
                  <a:pt x="0" y="5944604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sp>
        <p:nvSpPr>
          <p:cNvPr id="3" name="Freeform 3"/>
          <p:cNvSpPr/>
          <p:nvPr/>
        </p:nvSpPr>
        <p:spPr>
          <a:xfrm flipV="1">
            <a:off x="152400" y="7193834"/>
            <a:ext cx="5099372" cy="5108660"/>
          </a:xfrm>
          <a:custGeom>
            <a:avLst/>
            <a:gdLst/>
            <a:ahLst/>
            <a:cxnLst/>
            <a:rect l="l" t="t" r="r" b="b"/>
            <a:pathLst>
              <a:path w="5099372" h="5108660">
                <a:moveTo>
                  <a:pt x="0" y="5108660"/>
                </a:moveTo>
                <a:lnTo>
                  <a:pt x="5099372" y="5108660"/>
                </a:lnTo>
                <a:lnTo>
                  <a:pt x="5099372" y="0"/>
                </a:lnTo>
                <a:lnTo>
                  <a:pt x="0" y="0"/>
                </a:lnTo>
                <a:lnTo>
                  <a:pt x="0" y="510866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sp>
        <p:nvSpPr>
          <p:cNvPr id="4" name="Freeform 4"/>
          <p:cNvSpPr/>
          <p:nvPr/>
        </p:nvSpPr>
        <p:spPr>
          <a:xfrm>
            <a:off x="2888963" y="7193834"/>
            <a:ext cx="5010340" cy="5010340"/>
          </a:xfrm>
          <a:custGeom>
            <a:avLst/>
            <a:gdLst/>
            <a:ahLst/>
            <a:cxnLst/>
            <a:rect l="l" t="t" r="r" b="b"/>
            <a:pathLst>
              <a:path w="5010340" h="5010340">
                <a:moveTo>
                  <a:pt x="0" y="0"/>
                </a:moveTo>
                <a:lnTo>
                  <a:pt x="5010340" y="0"/>
                </a:lnTo>
                <a:lnTo>
                  <a:pt x="5010340" y="5010340"/>
                </a:lnTo>
                <a:lnTo>
                  <a:pt x="0" y="501034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58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grpSp>
        <p:nvGrpSpPr>
          <p:cNvPr id="5" name="Group 5"/>
          <p:cNvGrpSpPr/>
          <p:nvPr/>
        </p:nvGrpSpPr>
        <p:grpSpPr>
          <a:xfrm>
            <a:off x="-799737" y="-2386992"/>
            <a:ext cx="4526045" cy="4526045"/>
            <a:chOff x="0" y="0"/>
            <a:chExt cx="812800" cy="8128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57150" cap="sq">
              <a:solidFill>
                <a:srgbClr val="0B0B0B">
                  <a:alpha val="24706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76200" y="76200"/>
              <a:ext cx="660400" cy="660400"/>
            </a:xfrm>
            <a:prstGeom prst="rect">
              <a:avLst/>
            </a:prstGeom>
          </p:spPr>
          <p:txBody>
            <a:bodyPr lIns="28575" tIns="28575" rIns="28575" bIns="28575" rtlCol="0" anchor="ctr"/>
            <a:lstStyle/>
            <a:p>
              <a:pPr algn="ctr">
                <a:lnSpc>
                  <a:spcPts val="1589"/>
                </a:lnSpc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-2341697" y="806833"/>
            <a:ext cx="4526045" cy="4526045"/>
            <a:chOff x="0" y="0"/>
            <a:chExt cx="812800" cy="81280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57150" cap="sq">
              <a:solidFill>
                <a:srgbClr val="837E7B">
                  <a:alpha val="24706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76200" y="76200"/>
              <a:ext cx="660400" cy="660400"/>
            </a:xfrm>
            <a:prstGeom prst="rect">
              <a:avLst/>
            </a:prstGeom>
          </p:spPr>
          <p:txBody>
            <a:bodyPr lIns="28575" tIns="28575" rIns="28575" bIns="28575" rtlCol="0" anchor="ctr"/>
            <a:lstStyle/>
            <a:p>
              <a:pPr algn="ctr">
                <a:lnSpc>
                  <a:spcPts val="1589"/>
                </a:lnSpc>
              </a:pPr>
              <a:endParaRPr/>
            </a:p>
          </p:txBody>
        </p:sp>
      </p:grpSp>
      <p:sp>
        <p:nvSpPr>
          <p:cNvPr id="11" name="Freeform 11"/>
          <p:cNvSpPr/>
          <p:nvPr/>
        </p:nvSpPr>
        <p:spPr>
          <a:xfrm>
            <a:off x="11840783" y="2235973"/>
            <a:ext cx="5010340" cy="5010340"/>
          </a:xfrm>
          <a:custGeom>
            <a:avLst/>
            <a:gdLst/>
            <a:ahLst/>
            <a:cxnLst/>
            <a:rect l="l" t="t" r="r" b="b"/>
            <a:pathLst>
              <a:path w="5010340" h="5010340">
                <a:moveTo>
                  <a:pt x="0" y="0"/>
                </a:moveTo>
                <a:lnTo>
                  <a:pt x="5010340" y="0"/>
                </a:lnTo>
                <a:lnTo>
                  <a:pt x="5010340" y="5010340"/>
                </a:lnTo>
                <a:lnTo>
                  <a:pt x="0" y="501034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58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sp>
        <p:nvSpPr>
          <p:cNvPr id="12" name="TextBox 12"/>
          <p:cNvSpPr txBox="1"/>
          <p:nvPr/>
        </p:nvSpPr>
        <p:spPr>
          <a:xfrm>
            <a:off x="562212" y="792495"/>
            <a:ext cx="11850167" cy="110594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4106"/>
              </a:lnSpc>
              <a:spcBef>
                <a:spcPct val="0"/>
              </a:spcBef>
            </a:pPr>
            <a:r>
              <a:rPr lang="en-US" sz="4831" b="1" dirty="0" err="1">
                <a:solidFill>
                  <a:srgbClr val="7189C2"/>
                </a:solidFill>
                <a:latin typeface="Nunito Sans Medium"/>
                <a:ea typeface="Nunito Sans Medium"/>
                <a:cs typeface="Nunito Sans Medium"/>
                <a:sym typeface="Nunito Sans Medium"/>
              </a:rPr>
              <a:t>Acompanhe</a:t>
            </a:r>
            <a:r>
              <a:rPr lang="en-US" sz="4831" b="1" dirty="0">
                <a:solidFill>
                  <a:srgbClr val="7189C2"/>
                </a:solidFill>
                <a:latin typeface="Nunito Sans Medium"/>
                <a:ea typeface="Nunito Sans Medium"/>
                <a:cs typeface="Nunito Sans Medium"/>
                <a:sym typeface="Nunito Sans Medium"/>
              </a:rPr>
              <a:t> </a:t>
            </a:r>
            <a:r>
              <a:rPr lang="en-US" sz="4831" b="1" dirty="0" err="1">
                <a:solidFill>
                  <a:srgbClr val="7189C2"/>
                </a:solidFill>
                <a:latin typeface="Nunito Sans Medium"/>
                <a:ea typeface="Nunito Sans Medium"/>
                <a:cs typeface="Nunito Sans Medium"/>
                <a:sym typeface="Nunito Sans Medium"/>
              </a:rPr>
              <a:t>ações</a:t>
            </a:r>
            <a:r>
              <a:rPr lang="en-US" sz="4831" b="1" dirty="0">
                <a:solidFill>
                  <a:srgbClr val="7189C2"/>
                </a:solidFill>
                <a:latin typeface="Nunito Sans Medium"/>
                <a:ea typeface="Nunito Sans Medium"/>
                <a:cs typeface="Nunito Sans Medium"/>
                <a:sym typeface="Nunito Sans Medium"/>
              </a:rPr>
              <a:t> e </a:t>
            </a:r>
            <a:r>
              <a:rPr lang="en-US" sz="4831" b="1" dirty="0" err="1">
                <a:solidFill>
                  <a:srgbClr val="7189C2"/>
                </a:solidFill>
                <a:latin typeface="Nunito Sans Medium"/>
                <a:ea typeface="Nunito Sans Medium"/>
                <a:cs typeface="Nunito Sans Medium"/>
                <a:sym typeface="Nunito Sans Medium"/>
              </a:rPr>
              <a:t>criptomoedas</a:t>
            </a:r>
            <a:r>
              <a:rPr lang="en-US" sz="4831" b="1" dirty="0">
                <a:solidFill>
                  <a:srgbClr val="7189C2"/>
                </a:solidFill>
                <a:latin typeface="Nunito Sans Medium"/>
                <a:ea typeface="Nunito Sans Medium"/>
                <a:cs typeface="Nunito Sans Medium"/>
                <a:sym typeface="Nunito Sans Medium"/>
              </a:rPr>
              <a:t> </a:t>
            </a:r>
            <a:r>
              <a:rPr lang="en-US" sz="4831" b="1" dirty="0" err="1">
                <a:solidFill>
                  <a:srgbClr val="7189C2"/>
                </a:solidFill>
                <a:latin typeface="Nunito Sans Medium"/>
                <a:ea typeface="Nunito Sans Medium"/>
                <a:cs typeface="Nunito Sans Medium"/>
                <a:sym typeface="Nunito Sans Medium"/>
              </a:rPr>
              <a:t>atualizadas</a:t>
            </a:r>
            <a:r>
              <a:rPr lang="en-US" sz="4831" b="1" dirty="0">
                <a:solidFill>
                  <a:srgbClr val="7189C2"/>
                </a:solidFill>
                <a:latin typeface="Nunito Sans Medium"/>
                <a:ea typeface="Nunito Sans Medium"/>
                <a:cs typeface="Nunito Sans Medium"/>
                <a:sym typeface="Nunito Sans Medium"/>
              </a:rPr>
              <a:t> </a:t>
            </a:r>
            <a:r>
              <a:rPr lang="en-US" sz="4831" b="1" dirty="0" err="1">
                <a:solidFill>
                  <a:srgbClr val="7189C2"/>
                </a:solidFill>
                <a:latin typeface="Nunito Sans Medium"/>
                <a:ea typeface="Nunito Sans Medium"/>
                <a:cs typeface="Nunito Sans Medium"/>
                <a:sym typeface="Nunito Sans Medium"/>
              </a:rPr>
              <a:t>automaticamente</a:t>
            </a:r>
            <a:r>
              <a:rPr lang="en-US" sz="4831" b="1" dirty="0">
                <a:solidFill>
                  <a:srgbClr val="7189C2"/>
                </a:solidFill>
                <a:latin typeface="Nunito Sans Medium"/>
                <a:ea typeface="Nunito Sans Medium"/>
                <a:cs typeface="Nunito Sans Medium"/>
                <a:sym typeface="Nunito Sans Medium"/>
              </a:rPr>
              <a:t>!</a:t>
            </a:r>
          </a:p>
        </p:txBody>
      </p:sp>
      <p:sp>
        <p:nvSpPr>
          <p:cNvPr id="13" name="TextBox 13"/>
          <p:cNvSpPr txBox="1"/>
          <p:nvPr/>
        </p:nvSpPr>
        <p:spPr>
          <a:xfrm rot="5400000">
            <a:off x="14200408" y="8194908"/>
            <a:ext cx="3473054" cy="4303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027"/>
              </a:lnSpc>
            </a:pPr>
            <a:r>
              <a:rPr lang="en-US" sz="3784" spc="140">
                <a:solidFill>
                  <a:srgbClr val="7189C2"/>
                </a:solidFill>
                <a:latin typeface="Nunito Sans"/>
                <a:ea typeface="Nunito Sans"/>
                <a:cs typeface="Nunito Sans"/>
                <a:sym typeface="Nunito Sans"/>
              </a:rPr>
              <a:t>MERCADO</a:t>
            </a:r>
          </a:p>
        </p:txBody>
      </p:sp>
      <p:sp>
        <p:nvSpPr>
          <p:cNvPr id="14" name="Freeform 14"/>
          <p:cNvSpPr/>
          <p:nvPr/>
        </p:nvSpPr>
        <p:spPr>
          <a:xfrm rot="5400000">
            <a:off x="15430628" y="5506193"/>
            <a:ext cx="1221218" cy="1081985"/>
          </a:xfrm>
          <a:custGeom>
            <a:avLst/>
            <a:gdLst/>
            <a:ahLst/>
            <a:cxnLst/>
            <a:rect l="l" t="t" r="r" b="b"/>
            <a:pathLst>
              <a:path w="1221218" h="1081985">
                <a:moveTo>
                  <a:pt x="0" y="0"/>
                </a:moveTo>
                <a:lnTo>
                  <a:pt x="1221219" y="0"/>
                </a:lnTo>
                <a:lnTo>
                  <a:pt x="1221219" y="1081984"/>
                </a:lnTo>
                <a:lnTo>
                  <a:pt x="0" y="108198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121577" t="-29090" r="-117623" b="-80041"/>
            </a:stretch>
          </a:blipFill>
        </p:spPr>
        <p:txBody>
          <a:bodyPr/>
          <a:lstStyle/>
          <a:p>
            <a:endParaRPr lang="pt-BR"/>
          </a:p>
        </p:txBody>
      </p:sp>
      <p:sp>
        <p:nvSpPr>
          <p:cNvPr id="15" name="Freeform 15"/>
          <p:cNvSpPr/>
          <p:nvPr/>
        </p:nvSpPr>
        <p:spPr>
          <a:xfrm>
            <a:off x="2031948" y="2034743"/>
            <a:ext cx="13221227" cy="7689484"/>
          </a:xfrm>
          <a:custGeom>
            <a:avLst/>
            <a:gdLst/>
            <a:ahLst/>
            <a:cxnLst/>
            <a:rect l="l" t="t" r="r" b="b"/>
            <a:pathLst>
              <a:path w="13221227" h="7689484">
                <a:moveTo>
                  <a:pt x="0" y="0"/>
                </a:moveTo>
                <a:lnTo>
                  <a:pt x="13221227" y="0"/>
                </a:lnTo>
                <a:lnTo>
                  <a:pt x="13221227" y="7689485"/>
                </a:lnTo>
                <a:lnTo>
                  <a:pt x="0" y="768948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4930" t="-9266" r="-4713" b="-10326"/>
            </a:stretch>
          </a:blipFill>
        </p:spPr>
        <p:txBody>
          <a:bodyPr/>
          <a:lstStyle/>
          <a:p>
            <a:endParaRPr lang="pt-BR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EBE9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87458A0-1AC2-CFA4-D950-8EF327911C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D172C3C1-4BAE-F12E-A9CC-CD32EAA400E2}"/>
              </a:ext>
            </a:extLst>
          </p:cNvPr>
          <p:cNvSpPr/>
          <p:nvPr/>
        </p:nvSpPr>
        <p:spPr>
          <a:xfrm flipV="1">
            <a:off x="13332616" y="-1117411"/>
            <a:ext cx="5933796" cy="5944604"/>
          </a:xfrm>
          <a:custGeom>
            <a:avLst/>
            <a:gdLst/>
            <a:ahLst/>
            <a:cxnLst/>
            <a:rect l="l" t="t" r="r" b="b"/>
            <a:pathLst>
              <a:path w="5933796" h="5944604">
                <a:moveTo>
                  <a:pt x="0" y="5944604"/>
                </a:moveTo>
                <a:lnTo>
                  <a:pt x="5933796" y="5944604"/>
                </a:lnTo>
                <a:lnTo>
                  <a:pt x="5933796" y="0"/>
                </a:lnTo>
                <a:lnTo>
                  <a:pt x="0" y="0"/>
                </a:lnTo>
                <a:lnTo>
                  <a:pt x="0" y="5944604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sp>
        <p:nvSpPr>
          <p:cNvPr id="3" name="Freeform 3">
            <a:extLst>
              <a:ext uri="{FF2B5EF4-FFF2-40B4-BE49-F238E27FC236}">
                <a16:creationId xmlns:a16="http://schemas.microsoft.com/office/drawing/2014/main" id="{78AB58AB-905D-F85A-B356-8E56E3A974E2}"/>
              </a:ext>
            </a:extLst>
          </p:cNvPr>
          <p:cNvSpPr/>
          <p:nvPr/>
        </p:nvSpPr>
        <p:spPr>
          <a:xfrm flipV="1">
            <a:off x="152400" y="7193834"/>
            <a:ext cx="5099372" cy="5108660"/>
          </a:xfrm>
          <a:custGeom>
            <a:avLst/>
            <a:gdLst/>
            <a:ahLst/>
            <a:cxnLst/>
            <a:rect l="l" t="t" r="r" b="b"/>
            <a:pathLst>
              <a:path w="5099372" h="5108660">
                <a:moveTo>
                  <a:pt x="0" y="5108660"/>
                </a:moveTo>
                <a:lnTo>
                  <a:pt x="5099372" y="5108660"/>
                </a:lnTo>
                <a:lnTo>
                  <a:pt x="5099372" y="0"/>
                </a:lnTo>
                <a:lnTo>
                  <a:pt x="0" y="0"/>
                </a:lnTo>
                <a:lnTo>
                  <a:pt x="0" y="510866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sp>
        <p:nvSpPr>
          <p:cNvPr id="4" name="Freeform 4">
            <a:extLst>
              <a:ext uri="{FF2B5EF4-FFF2-40B4-BE49-F238E27FC236}">
                <a16:creationId xmlns:a16="http://schemas.microsoft.com/office/drawing/2014/main" id="{223268B2-55F6-E5A3-A7E9-61B44165105C}"/>
              </a:ext>
            </a:extLst>
          </p:cNvPr>
          <p:cNvSpPr/>
          <p:nvPr/>
        </p:nvSpPr>
        <p:spPr>
          <a:xfrm>
            <a:off x="2888963" y="7193834"/>
            <a:ext cx="5010340" cy="5010340"/>
          </a:xfrm>
          <a:custGeom>
            <a:avLst/>
            <a:gdLst/>
            <a:ahLst/>
            <a:cxnLst/>
            <a:rect l="l" t="t" r="r" b="b"/>
            <a:pathLst>
              <a:path w="5010340" h="5010340">
                <a:moveTo>
                  <a:pt x="0" y="0"/>
                </a:moveTo>
                <a:lnTo>
                  <a:pt x="5010340" y="0"/>
                </a:lnTo>
                <a:lnTo>
                  <a:pt x="5010340" y="5010340"/>
                </a:lnTo>
                <a:lnTo>
                  <a:pt x="0" y="501034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58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grpSp>
        <p:nvGrpSpPr>
          <p:cNvPr id="5" name="Group 5">
            <a:extLst>
              <a:ext uri="{FF2B5EF4-FFF2-40B4-BE49-F238E27FC236}">
                <a16:creationId xmlns:a16="http://schemas.microsoft.com/office/drawing/2014/main" id="{6F618D96-E59C-8A9D-FA29-13E9FC9B9153}"/>
              </a:ext>
            </a:extLst>
          </p:cNvPr>
          <p:cNvGrpSpPr/>
          <p:nvPr/>
        </p:nvGrpSpPr>
        <p:grpSpPr>
          <a:xfrm>
            <a:off x="-799737" y="-2386992"/>
            <a:ext cx="4526045" cy="4526045"/>
            <a:chOff x="0" y="0"/>
            <a:chExt cx="812800" cy="812800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1E0802F1-A78F-BC9B-C374-35547B8EB322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57150" cap="sq">
              <a:solidFill>
                <a:srgbClr val="0B0B0B">
                  <a:alpha val="24706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21F6820E-6E27-2FAC-1D63-017035836C0F}"/>
                </a:ext>
              </a:extLst>
            </p:cNvPr>
            <p:cNvSpPr txBox="1"/>
            <p:nvPr/>
          </p:nvSpPr>
          <p:spPr>
            <a:xfrm>
              <a:off x="76200" y="76200"/>
              <a:ext cx="660400" cy="660400"/>
            </a:xfrm>
            <a:prstGeom prst="rect">
              <a:avLst/>
            </a:prstGeom>
          </p:spPr>
          <p:txBody>
            <a:bodyPr lIns="28575" tIns="28575" rIns="28575" bIns="28575" rtlCol="0" anchor="ctr"/>
            <a:lstStyle/>
            <a:p>
              <a:pPr algn="ctr">
                <a:lnSpc>
                  <a:spcPts val="1589"/>
                </a:lnSpc>
              </a:pPr>
              <a:endParaRPr/>
            </a:p>
          </p:txBody>
        </p:sp>
      </p:grpSp>
      <p:grpSp>
        <p:nvGrpSpPr>
          <p:cNvPr id="8" name="Group 8">
            <a:extLst>
              <a:ext uri="{FF2B5EF4-FFF2-40B4-BE49-F238E27FC236}">
                <a16:creationId xmlns:a16="http://schemas.microsoft.com/office/drawing/2014/main" id="{B7936771-46F9-7A11-D393-55DDDF6F5E2C}"/>
              </a:ext>
            </a:extLst>
          </p:cNvPr>
          <p:cNvGrpSpPr/>
          <p:nvPr/>
        </p:nvGrpSpPr>
        <p:grpSpPr>
          <a:xfrm>
            <a:off x="-2341697" y="806833"/>
            <a:ext cx="4526045" cy="4526045"/>
            <a:chOff x="0" y="0"/>
            <a:chExt cx="812800" cy="812800"/>
          </a:xfrm>
        </p:grpSpPr>
        <p:sp>
          <p:nvSpPr>
            <p:cNvPr id="9" name="Freeform 9">
              <a:extLst>
                <a:ext uri="{FF2B5EF4-FFF2-40B4-BE49-F238E27FC236}">
                  <a16:creationId xmlns:a16="http://schemas.microsoft.com/office/drawing/2014/main" id="{4DF53C89-C59F-C308-FF15-4C185AC962CB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57150" cap="sq">
              <a:solidFill>
                <a:srgbClr val="837E7B">
                  <a:alpha val="24706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10" name="TextBox 10">
              <a:extLst>
                <a:ext uri="{FF2B5EF4-FFF2-40B4-BE49-F238E27FC236}">
                  <a16:creationId xmlns:a16="http://schemas.microsoft.com/office/drawing/2014/main" id="{02EBF807-7CFD-2461-5073-FD42CEFF64E0}"/>
                </a:ext>
              </a:extLst>
            </p:cNvPr>
            <p:cNvSpPr txBox="1"/>
            <p:nvPr/>
          </p:nvSpPr>
          <p:spPr>
            <a:xfrm>
              <a:off x="76200" y="76200"/>
              <a:ext cx="660400" cy="660400"/>
            </a:xfrm>
            <a:prstGeom prst="rect">
              <a:avLst/>
            </a:prstGeom>
          </p:spPr>
          <p:txBody>
            <a:bodyPr lIns="28575" tIns="28575" rIns="28575" bIns="28575" rtlCol="0" anchor="ctr"/>
            <a:lstStyle/>
            <a:p>
              <a:pPr algn="ctr">
                <a:lnSpc>
                  <a:spcPts val="1589"/>
                </a:lnSpc>
              </a:pPr>
              <a:endParaRPr/>
            </a:p>
          </p:txBody>
        </p:sp>
      </p:grpSp>
      <p:sp>
        <p:nvSpPr>
          <p:cNvPr id="11" name="Freeform 11">
            <a:extLst>
              <a:ext uri="{FF2B5EF4-FFF2-40B4-BE49-F238E27FC236}">
                <a16:creationId xmlns:a16="http://schemas.microsoft.com/office/drawing/2014/main" id="{D0DE4A0C-9468-1B86-4A3F-A00D51687449}"/>
              </a:ext>
            </a:extLst>
          </p:cNvPr>
          <p:cNvSpPr/>
          <p:nvPr/>
        </p:nvSpPr>
        <p:spPr>
          <a:xfrm>
            <a:off x="11840783" y="2235973"/>
            <a:ext cx="5010340" cy="5010340"/>
          </a:xfrm>
          <a:custGeom>
            <a:avLst/>
            <a:gdLst/>
            <a:ahLst/>
            <a:cxnLst/>
            <a:rect l="l" t="t" r="r" b="b"/>
            <a:pathLst>
              <a:path w="5010340" h="5010340">
                <a:moveTo>
                  <a:pt x="0" y="0"/>
                </a:moveTo>
                <a:lnTo>
                  <a:pt x="5010340" y="0"/>
                </a:lnTo>
                <a:lnTo>
                  <a:pt x="5010340" y="5010340"/>
                </a:lnTo>
                <a:lnTo>
                  <a:pt x="0" y="501034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58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sp>
        <p:nvSpPr>
          <p:cNvPr id="13" name="TextBox 13">
            <a:extLst>
              <a:ext uri="{FF2B5EF4-FFF2-40B4-BE49-F238E27FC236}">
                <a16:creationId xmlns:a16="http://schemas.microsoft.com/office/drawing/2014/main" id="{DC7D44AE-7FF2-A5DB-CC80-A7B700A1EF36}"/>
              </a:ext>
            </a:extLst>
          </p:cNvPr>
          <p:cNvSpPr txBox="1"/>
          <p:nvPr/>
        </p:nvSpPr>
        <p:spPr>
          <a:xfrm>
            <a:off x="1591330" y="806833"/>
            <a:ext cx="3473054" cy="4303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027"/>
              </a:lnSpc>
            </a:pPr>
            <a:r>
              <a:rPr lang="en-US" sz="3784" spc="140" dirty="0">
                <a:solidFill>
                  <a:srgbClr val="7189C2"/>
                </a:solidFill>
                <a:latin typeface="Nunito Sans"/>
                <a:ea typeface="Nunito Sans"/>
                <a:cs typeface="Nunito Sans"/>
                <a:sym typeface="Nunito Sans"/>
              </a:rPr>
              <a:t>MERCADO</a:t>
            </a:r>
          </a:p>
        </p:txBody>
      </p:sp>
      <p:sp>
        <p:nvSpPr>
          <p:cNvPr id="14" name="Freeform 14">
            <a:extLst>
              <a:ext uri="{FF2B5EF4-FFF2-40B4-BE49-F238E27FC236}">
                <a16:creationId xmlns:a16="http://schemas.microsoft.com/office/drawing/2014/main" id="{E9C9133C-773F-7AC8-68BF-D6059BCF4719}"/>
              </a:ext>
            </a:extLst>
          </p:cNvPr>
          <p:cNvSpPr/>
          <p:nvPr/>
        </p:nvSpPr>
        <p:spPr>
          <a:xfrm>
            <a:off x="370112" y="265840"/>
            <a:ext cx="1221218" cy="1081985"/>
          </a:xfrm>
          <a:custGeom>
            <a:avLst/>
            <a:gdLst/>
            <a:ahLst/>
            <a:cxnLst/>
            <a:rect l="l" t="t" r="r" b="b"/>
            <a:pathLst>
              <a:path w="1221218" h="1081985">
                <a:moveTo>
                  <a:pt x="0" y="0"/>
                </a:moveTo>
                <a:lnTo>
                  <a:pt x="1221219" y="0"/>
                </a:lnTo>
                <a:lnTo>
                  <a:pt x="1221219" y="1081984"/>
                </a:lnTo>
                <a:lnTo>
                  <a:pt x="0" y="108198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121577" t="-29090" r="-117623" b="-80041"/>
            </a:stretch>
          </a:blipFill>
        </p:spPr>
        <p:txBody>
          <a:bodyPr/>
          <a:lstStyle/>
          <a:p>
            <a:endParaRPr lang="pt-BR"/>
          </a:p>
        </p:txBody>
      </p:sp>
      <p:sp>
        <p:nvSpPr>
          <p:cNvPr id="17" name="CaixaDeTexto 16">
            <a:extLst>
              <a:ext uri="{FF2B5EF4-FFF2-40B4-BE49-F238E27FC236}">
                <a16:creationId xmlns:a16="http://schemas.microsoft.com/office/drawing/2014/main" id="{611ED9FE-9729-A4D1-8CF4-F91B80E4BCD2}"/>
              </a:ext>
            </a:extLst>
          </p:cNvPr>
          <p:cNvSpPr txBox="1"/>
          <p:nvPr/>
        </p:nvSpPr>
        <p:spPr>
          <a:xfrm>
            <a:off x="2861749" y="3132676"/>
            <a:ext cx="10817678" cy="3970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2800" dirty="0">
                <a:solidFill>
                  <a:schemeClr val="tx2">
                    <a:lumMod val="75000"/>
                  </a:schemeClr>
                </a:solidFill>
                <a:latin typeface="Nunito Sans" pitchFamily="2" charset="0"/>
              </a:rPr>
              <a:t>O sistema utiliza integrações com APIs externas para obtenção de dados de mercado. Para ativos da bolsa brasileira, foi utilizada a </a:t>
            </a:r>
            <a:r>
              <a:rPr lang="pt-BR" sz="2800" b="1" dirty="0">
                <a:solidFill>
                  <a:schemeClr val="tx2">
                    <a:lumMod val="75000"/>
                  </a:schemeClr>
                </a:solidFill>
                <a:latin typeface="Nunito Sans" pitchFamily="2" charset="0"/>
              </a:rPr>
              <a:t>API BRAPI</a:t>
            </a:r>
            <a:r>
              <a:rPr lang="pt-BR" sz="2800" dirty="0">
                <a:solidFill>
                  <a:schemeClr val="tx2">
                    <a:lumMod val="75000"/>
                  </a:schemeClr>
                </a:solidFill>
                <a:latin typeface="Nunito Sans" pitchFamily="2" charset="0"/>
              </a:rPr>
              <a:t>, responsável </a:t>
            </a:r>
            <a:r>
              <a:rPr lang="pt-BR" sz="2800" b="1" dirty="0">
                <a:solidFill>
                  <a:schemeClr val="tx2">
                    <a:lumMod val="75000"/>
                  </a:schemeClr>
                </a:solidFill>
                <a:latin typeface="Nunito Sans" pitchFamily="2" charset="0"/>
              </a:rPr>
              <a:t>por fornecer informações de ações e </a:t>
            </a:r>
            <a:r>
              <a:rPr lang="pt-BR" sz="2800" b="1" dirty="0" err="1">
                <a:solidFill>
                  <a:schemeClr val="tx2">
                    <a:lumMod val="75000"/>
                  </a:schemeClr>
                </a:solidFill>
                <a:latin typeface="Nunito Sans" pitchFamily="2" charset="0"/>
              </a:rPr>
              <a:t>ETFs</a:t>
            </a:r>
            <a:r>
              <a:rPr lang="pt-BR" sz="2800" b="1" dirty="0">
                <a:solidFill>
                  <a:schemeClr val="tx2">
                    <a:lumMod val="75000"/>
                  </a:schemeClr>
                </a:solidFill>
                <a:latin typeface="Nunito Sans" pitchFamily="2" charset="0"/>
              </a:rPr>
              <a:t> da B3</a:t>
            </a:r>
            <a:r>
              <a:rPr lang="pt-BR" sz="2800" dirty="0">
                <a:solidFill>
                  <a:schemeClr val="tx2">
                    <a:lumMod val="75000"/>
                  </a:schemeClr>
                </a:solidFill>
                <a:latin typeface="Nunito Sans" pitchFamily="2" charset="0"/>
              </a:rPr>
              <a:t>. Para criptomoedas, foram utilizadas rotas da API da </a:t>
            </a:r>
            <a:r>
              <a:rPr lang="pt-BR" sz="2800" b="1" dirty="0" err="1">
                <a:solidFill>
                  <a:schemeClr val="tx2">
                    <a:lumMod val="75000"/>
                  </a:schemeClr>
                </a:solidFill>
                <a:latin typeface="Nunito Sans" pitchFamily="2" charset="0"/>
              </a:rPr>
              <a:t>Binance</a:t>
            </a:r>
            <a:r>
              <a:rPr lang="pt-BR" sz="2800" dirty="0">
                <a:solidFill>
                  <a:schemeClr val="tx2">
                    <a:lumMod val="75000"/>
                  </a:schemeClr>
                </a:solidFill>
                <a:latin typeface="Nunito Sans" pitchFamily="2" charset="0"/>
              </a:rPr>
              <a:t>, tanto para consulta de estatísticas completas das últimas </a:t>
            </a:r>
            <a:r>
              <a:rPr lang="pt-BR" sz="2800" b="1" dirty="0">
                <a:solidFill>
                  <a:schemeClr val="tx2">
                    <a:lumMod val="75000"/>
                  </a:schemeClr>
                </a:solidFill>
                <a:latin typeface="Nunito Sans" pitchFamily="2" charset="0"/>
              </a:rPr>
              <a:t>24 horas </a:t>
            </a:r>
            <a:r>
              <a:rPr lang="pt-BR" sz="2800" dirty="0">
                <a:solidFill>
                  <a:schemeClr val="tx2">
                    <a:lumMod val="75000"/>
                  </a:schemeClr>
                </a:solidFill>
                <a:latin typeface="Nunito Sans" pitchFamily="2" charset="0"/>
              </a:rPr>
              <a:t>quanto para obtenção da </a:t>
            </a:r>
            <a:r>
              <a:rPr lang="pt-BR" sz="2800" b="1" dirty="0">
                <a:solidFill>
                  <a:schemeClr val="tx2">
                    <a:lumMod val="75000"/>
                  </a:schemeClr>
                </a:solidFill>
                <a:latin typeface="Nunito Sans" pitchFamily="2" charset="0"/>
              </a:rPr>
              <a:t>cotação atual dos ativos</a:t>
            </a:r>
            <a:r>
              <a:rPr lang="pt-BR" sz="2800" dirty="0">
                <a:solidFill>
                  <a:schemeClr val="tx2">
                    <a:lumMod val="75000"/>
                  </a:schemeClr>
                </a:solidFill>
                <a:latin typeface="Nunito Sans" pitchFamily="2" charset="0"/>
              </a:rPr>
              <a:t>. Essas integrações permitem que o catálogo de investimentos permaneça atualizado sem necessidade de cadastro manual dos ativos.</a:t>
            </a:r>
          </a:p>
        </p:txBody>
      </p:sp>
    </p:spTree>
    <p:extLst>
      <p:ext uri="{BB962C8B-B14F-4D97-AF65-F5344CB8AC3E}">
        <p14:creationId xmlns:p14="http://schemas.microsoft.com/office/powerpoint/2010/main" val="424293883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EBE9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D751922-4214-C6AE-21FA-6F787E48FC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8DB30162-6E31-89CD-26AB-5722265E90CA}"/>
              </a:ext>
            </a:extLst>
          </p:cNvPr>
          <p:cNvSpPr/>
          <p:nvPr/>
        </p:nvSpPr>
        <p:spPr>
          <a:xfrm flipV="1">
            <a:off x="13332616" y="-1117411"/>
            <a:ext cx="5933796" cy="5944604"/>
          </a:xfrm>
          <a:custGeom>
            <a:avLst/>
            <a:gdLst/>
            <a:ahLst/>
            <a:cxnLst/>
            <a:rect l="l" t="t" r="r" b="b"/>
            <a:pathLst>
              <a:path w="5933796" h="5944604">
                <a:moveTo>
                  <a:pt x="0" y="5944604"/>
                </a:moveTo>
                <a:lnTo>
                  <a:pt x="5933796" y="5944604"/>
                </a:lnTo>
                <a:lnTo>
                  <a:pt x="5933796" y="0"/>
                </a:lnTo>
                <a:lnTo>
                  <a:pt x="0" y="0"/>
                </a:lnTo>
                <a:lnTo>
                  <a:pt x="0" y="5944604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sp>
        <p:nvSpPr>
          <p:cNvPr id="3" name="Freeform 3">
            <a:extLst>
              <a:ext uri="{FF2B5EF4-FFF2-40B4-BE49-F238E27FC236}">
                <a16:creationId xmlns:a16="http://schemas.microsoft.com/office/drawing/2014/main" id="{8DF06158-0A73-1A1F-18C9-267802D25700}"/>
              </a:ext>
            </a:extLst>
          </p:cNvPr>
          <p:cNvSpPr/>
          <p:nvPr/>
        </p:nvSpPr>
        <p:spPr>
          <a:xfrm flipV="1">
            <a:off x="152400" y="7193834"/>
            <a:ext cx="5099372" cy="5108660"/>
          </a:xfrm>
          <a:custGeom>
            <a:avLst/>
            <a:gdLst/>
            <a:ahLst/>
            <a:cxnLst/>
            <a:rect l="l" t="t" r="r" b="b"/>
            <a:pathLst>
              <a:path w="5099372" h="5108660">
                <a:moveTo>
                  <a:pt x="0" y="5108660"/>
                </a:moveTo>
                <a:lnTo>
                  <a:pt x="5099372" y="5108660"/>
                </a:lnTo>
                <a:lnTo>
                  <a:pt x="5099372" y="0"/>
                </a:lnTo>
                <a:lnTo>
                  <a:pt x="0" y="0"/>
                </a:lnTo>
                <a:lnTo>
                  <a:pt x="0" y="510866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sp>
        <p:nvSpPr>
          <p:cNvPr id="4" name="Freeform 4">
            <a:extLst>
              <a:ext uri="{FF2B5EF4-FFF2-40B4-BE49-F238E27FC236}">
                <a16:creationId xmlns:a16="http://schemas.microsoft.com/office/drawing/2014/main" id="{99ACB9FD-0F58-B83D-FEC5-F044AE92B0CA}"/>
              </a:ext>
            </a:extLst>
          </p:cNvPr>
          <p:cNvSpPr/>
          <p:nvPr/>
        </p:nvSpPr>
        <p:spPr>
          <a:xfrm>
            <a:off x="2888963" y="7193834"/>
            <a:ext cx="5010340" cy="5010340"/>
          </a:xfrm>
          <a:custGeom>
            <a:avLst/>
            <a:gdLst/>
            <a:ahLst/>
            <a:cxnLst/>
            <a:rect l="l" t="t" r="r" b="b"/>
            <a:pathLst>
              <a:path w="5010340" h="5010340">
                <a:moveTo>
                  <a:pt x="0" y="0"/>
                </a:moveTo>
                <a:lnTo>
                  <a:pt x="5010340" y="0"/>
                </a:lnTo>
                <a:lnTo>
                  <a:pt x="5010340" y="5010340"/>
                </a:lnTo>
                <a:lnTo>
                  <a:pt x="0" y="501034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58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grpSp>
        <p:nvGrpSpPr>
          <p:cNvPr id="5" name="Group 5">
            <a:extLst>
              <a:ext uri="{FF2B5EF4-FFF2-40B4-BE49-F238E27FC236}">
                <a16:creationId xmlns:a16="http://schemas.microsoft.com/office/drawing/2014/main" id="{E5E95E72-F702-D874-8638-E0C46D818E02}"/>
              </a:ext>
            </a:extLst>
          </p:cNvPr>
          <p:cNvGrpSpPr/>
          <p:nvPr/>
        </p:nvGrpSpPr>
        <p:grpSpPr>
          <a:xfrm>
            <a:off x="-799737" y="-2386992"/>
            <a:ext cx="4526045" cy="4526045"/>
            <a:chOff x="0" y="0"/>
            <a:chExt cx="812800" cy="812800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44A6C86A-DC0E-E7D6-FDD1-F88D155F3DCD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57150" cap="sq">
              <a:solidFill>
                <a:srgbClr val="0B0B0B">
                  <a:alpha val="24706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073D8AE1-E8BE-B543-C4AD-F090CAA04042}"/>
                </a:ext>
              </a:extLst>
            </p:cNvPr>
            <p:cNvSpPr txBox="1"/>
            <p:nvPr/>
          </p:nvSpPr>
          <p:spPr>
            <a:xfrm>
              <a:off x="76200" y="76200"/>
              <a:ext cx="660400" cy="660400"/>
            </a:xfrm>
            <a:prstGeom prst="rect">
              <a:avLst/>
            </a:prstGeom>
          </p:spPr>
          <p:txBody>
            <a:bodyPr lIns="28575" tIns="28575" rIns="28575" bIns="28575" rtlCol="0" anchor="ctr"/>
            <a:lstStyle/>
            <a:p>
              <a:pPr algn="ctr">
                <a:lnSpc>
                  <a:spcPts val="1589"/>
                </a:lnSpc>
              </a:pPr>
              <a:endParaRPr/>
            </a:p>
          </p:txBody>
        </p:sp>
      </p:grpSp>
      <p:grpSp>
        <p:nvGrpSpPr>
          <p:cNvPr id="8" name="Group 8">
            <a:extLst>
              <a:ext uri="{FF2B5EF4-FFF2-40B4-BE49-F238E27FC236}">
                <a16:creationId xmlns:a16="http://schemas.microsoft.com/office/drawing/2014/main" id="{A8698305-25B4-AB80-73E4-96529EE81F9C}"/>
              </a:ext>
            </a:extLst>
          </p:cNvPr>
          <p:cNvGrpSpPr/>
          <p:nvPr/>
        </p:nvGrpSpPr>
        <p:grpSpPr>
          <a:xfrm>
            <a:off x="-2341697" y="806833"/>
            <a:ext cx="4526045" cy="4526045"/>
            <a:chOff x="0" y="0"/>
            <a:chExt cx="812800" cy="812800"/>
          </a:xfrm>
        </p:grpSpPr>
        <p:sp>
          <p:nvSpPr>
            <p:cNvPr id="9" name="Freeform 9">
              <a:extLst>
                <a:ext uri="{FF2B5EF4-FFF2-40B4-BE49-F238E27FC236}">
                  <a16:creationId xmlns:a16="http://schemas.microsoft.com/office/drawing/2014/main" id="{427247C7-7BBD-0A16-F301-04CAB361B61F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57150" cap="sq">
              <a:solidFill>
                <a:srgbClr val="837E7B">
                  <a:alpha val="24706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10" name="TextBox 10">
              <a:extLst>
                <a:ext uri="{FF2B5EF4-FFF2-40B4-BE49-F238E27FC236}">
                  <a16:creationId xmlns:a16="http://schemas.microsoft.com/office/drawing/2014/main" id="{20AAA27D-27C8-5A6F-89FC-14B2456F2C9B}"/>
                </a:ext>
              </a:extLst>
            </p:cNvPr>
            <p:cNvSpPr txBox="1"/>
            <p:nvPr/>
          </p:nvSpPr>
          <p:spPr>
            <a:xfrm>
              <a:off x="76200" y="76200"/>
              <a:ext cx="660400" cy="660400"/>
            </a:xfrm>
            <a:prstGeom prst="rect">
              <a:avLst/>
            </a:prstGeom>
          </p:spPr>
          <p:txBody>
            <a:bodyPr lIns="28575" tIns="28575" rIns="28575" bIns="28575" rtlCol="0" anchor="ctr"/>
            <a:lstStyle/>
            <a:p>
              <a:pPr algn="ctr">
                <a:lnSpc>
                  <a:spcPts val="1589"/>
                </a:lnSpc>
              </a:pPr>
              <a:endParaRPr/>
            </a:p>
          </p:txBody>
        </p:sp>
      </p:grpSp>
      <p:sp>
        <p:nvSpPr>
          <p:cNvPr id="11" name="Freeform 11">
            <a:extLst>
              <a:ext uri="{FF2B5EF4-FFF2-40B4-BE49-F238E27FC236}">
                <a16:creationId xmlns:a16="http://schemas.microsoft.com/office/drawing/2014/main" id="{70411119-0AC2-D9D0-77B0-E567C2CEB79B}"/>
              </a:ext>
            </a:extLst>
          </p:cNvPr>
          <p:cNvSpPr/>
          <p:nvPr/>
        </p:nvSpPr>
        <p:spPr>
          <a:xfrm>
            <a:off x="11840783" y="2235973"/>
            <a:ext cx="5010340" cy="5010340"/>
          </a:xfrm>
          <a:custGeom>
            <a:avLst/>
            <a:gdLst/>
            <a:ahLst/>
            <a:cxnLst/>
            <a:rect l="l" t="t" r="r" b="b"/>
            <a:pathLst>
              <a:path w="5010340" h="5010340">
                <a:moveTo>
                  <a:pt x="0" y="0"/>
                </a:moveTo>
                <a:lnTo>
                  <a:pt x="5010340" y="0"/>
                </a:lnTo>
                <a:lnTo>
                  <a:pt x="5010340" y="5010340"/>
                </a:lnTo>
                <a:lnTo>
                  <a:pt x="0" y="501034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58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sp>
        <p:nvSpPr>
          <p:cNvPr id="13" name="TextBox 13">
            <a:extLst>
              <a:ext uri="{FF2B5EF4-FFF2-40B4-BE49-F238E27FC236}">
                <a16:creationId xmlns:a16="http://schemas.microsoft.com/office/drawing/2014/main" id="{91A33EF9-6A75-23C5-091D-1DB6EFE26F4C}"/>
              </a:ext>
            </a:extLst>
          </p:cNvPr>
          <p:cNvSpPr txBox="1"/>
          <p:nvPr/>
        </p:nvSpPr>
        <p:spPr>
          <a:xfrm>
            <a:off x="1591330" y="806833"/>
            <a:ext cx="4961870" cy="43409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l">
              <a:lnSpc>
                <a:spcPts val="3027"/>
              </a:lnSpc>
            </a:pPr>
            <a:r>
              <a:rPr lang="en-US" sz="3784" spc="140" dirty="0">
                <a:solidFill>
                  <a:srgbClr val="7189C2"/>
                </a:solidFill>
                <a:latin typeface="Nunito Sans"/>
                <a:ea typeface="Nunito Sans"/>
                <a:cs typeface="Nunito Sans"/>
                <a:sym typeface="Nunito Sans"/>
              </a:rPr>
              <a:t>BANCO DE DADOS</a:t>
            </a:r>
          </a:p>
        </p:txBody>
      </p:sp>
      <p:sp>
        <p:nvSpPr>
          <p:cNvPr id="14" name="Freeform 14">
            <a:extLst>
              <a:ext uri="{FF2B5EF4-FFF2-40B4-BE49-F238E27FC236}">
                <a16:creationId xmlns:a16="http://schemas.microsoft.com/office/drawing/2014/main" id="{3781D75C-678D-5E7E-A434-CF1D39666D22}"/>
              </a:ext>
            </a:extLst>
          </p:cNvPr>
          <p:cNvSpPr/>
          <p:nvPr/>
        </p:nvSpPr>
        <p:spPr>
          <a:xfrm>
            <a:off x="370112" y="265840"/>
            <a:ext cx="1221218" cy="1081985"/>
          </a:xfrm>
          <a:custGeom>
            <a:avLst/>
            <a:gdLst/>
            <a:ahLst/>
            <a:cxnLst/>
            <a:rect l="l" t="t" r="r" b="b"/>
            <a:pathLst>
              <a:path w="1221218" h="1081985">
                <a:moveTo>
                  <a:pt x="0" y="0"/>
                </a:moveTo>
                <a:lnTo>
                  <a:pt x="1221219" y="0"/>
                </a:lnTo>
                <a:lnTo>
                  <a:pt x="1221219" y="1081984"/>
                </a:lnTo>
                <a:lnTo>
                  <a:pt x="0" y="108198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121577" t="-29090" r="-117623" b="-80041"/>
            </a:stretch>
          </a:blipFill>
        </p:spPr>
        <p:txBody>
          <a:bodyPr/>
          <a:lstStyle/>
          <a:p>
            <a:endParaRPr lang="pt-BR"/>
          </a:p>
        </p:txBody>
      </p:sp>
      <p:sp>
        <p:nvSpPr>
          <p:cNvPr id="17" name="CaixaDeTexto 16">
            <a:extLst>
              <a:ext uri="{FF2B5EF4-FFF2-40B4-BE49-F238E27FC236}">
                <a16:creationId xmlns:a16="http://schemas.microsoft.com/office/drawing/2014/main" id="{E37A21CA-B793-9B06-3AF7-F9B287A5D866}"/>
              </a:ext>
            </a:extLst>
          </p:cNvPr>
          <p:cNvSpPr txBox="1"/>
          <p:nvPr/>
        </p:nvSpPr>
        <p:spPr>
          <a:xfrm>
            <a:off x="2861749" y="3132676"/>
            <a:ext cx="1081767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pt-BR" sz="2800" dirty="0">
              <a:solidFill>
                <a:schemeClr val="tx2">
                  <a:lumMod val="75000"/>
                </a:schemeClr>
              </a:solidFill>
              <a:latin typeface="Nunito Sans" pitchFamily="2" charset="0"/>
            </a:endParaRPr>
          </a:p>
        </p:txBody>
      </p:sp>
      <p:pic>
        <p:nvPicPr>
          <p:cNvPr id="15" name="Imagem 14">
            <a:extLst>
              <a:ext uri="{FF2B5EF4-FFF2-40B4-BE49-F238E27FC236}">
                <a16:creationId xmlns:a16="http://schemas.microsoft.com/office/drawing/2014/main" id="{CD7689DF-322C-62C5-DC50-A0E508B94AB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95835" y="1231150"/>
            <a:ext cx="4806873" cy="87117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84608273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EBE9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B3EEEA4-AA25-49AB-1B5D-DAA8B3C993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0C9600A3-DBD3-FD37-E107-1C8FE98E0795}"/>
              </a:ext>
            </a:extLst>
          </p:cNvPr>
          <p:cNvSpPr/>
          <p:nvPr/>
        </p:nvSpPr>
        <p:spPr>
          <a:xfrm flipV="1">
            <a:off x="13332616" y="-1117411"/>
            <a:ext cx="5933796" cy="5944604"/>
          </a:xfrm>
          <a:custGeom>
            <a:avLst/>
            <a:gdLst/>
            <a:ahLst/>
            <a:cxnLst/>
            <a:rect l="l" t="t" r="r" b="b"/>
            <a:pathLst>
              <a:path w="5933796" h="5944604">
                <a:moveTo>
                  <a:pt x="0" y="5944604"/>
                </a:moveTo>
                <a:lnTo>
                  <a:pt x="5933796" y="5944604"/>
                </a:lnTo>
                <a:lnTo>
                  <a:pt x="5933796" y="0"/>
                </a:lnTo>
                <a:lnTo>
                  <a:pt x="0" y="0"/>
                </a:lnTo>
                <a:lnTo>
                  <a:pt x="0" y="5944604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sp>
        <p:nvSpPr>
          <p:cNvPr id="3" name="Freeform 3">
            <a:extLst>
              <a:ext uri="{FF2B5EF4-FFF2-40B4-BE49-F238E27FC236}">
                <a16:creationId xmlns:a16="http://schemas.microsoft.com/office/drawing/2014/main" id="{D2AAEF68-8435-7536-9DA9-DAEBC8378B13}"/>
              </a:ext>
            </a:extLst>
          </p:cNvPr>
          <p:cNvSpPr/>
          <p:nvPr/>
        </p:nvSpPr>
        <p:spPr>
          <a:xfrm flipV="1">
            <a:off x="152400" y="7193834"/>
            <a:ext cx="5099372" cy="5108660"/>
          </a:xfrm>
          <a:custGeom>
            <a:avLst/>
            <a:gdLst/>
            <a:ahLst/>
            <a:cxnLst/>
            <a:rect l="l" t="t" r="r" b="b"/>
            <a:pathLst>
              <a:path w="5099372" h="5108660">
                <a:moveTo>
                  <a:pt x="0" y="5108660"/>
                </a:moveTo>
                <a:lnTo>
                  <a:pt x="5099372" y="5108660"/>
                </a:lnTo>
                <a:lnTo>
                  <a:pt x="5099372" y="0"/>
                </a:lnTo>
                <a:lnTo>
                  <a:pt x="0" y="0"/>
                </a:lnTo>
                <a:lnTo>
                  <a:pt x="0" y="510866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sp>
        <p:nvSpPr>
          <p:cNvPr id="4" name="Freeform 4">
            <a:extLst>
              <a:ext uri="{FF2B5EF4-FFF2-40B4-BE49-F238E27FC236}">
                <a16:creationId xmlns:a16="http://schemas.microsoft.com/office/drawing/2014/main" id="{6D3D3804-FAE1-5E55-6E8A-8E9B8BCAC0DD}"/>
              </a:ext>
            </a:extLst>
          </p:cNvPr>
          <p:cNvSpPr/>
          <p:nvPr/>
        </p:nvSpPr>
        <p:spPr>
          <a:xfrm>
            <a:off x="2888963" y="7193834"/>
            <a:ext cx="5010340" cy="5010340"/>
          </a:xfrm>
          <a:custGeom>
            <a:avLst/>
            <a:gdLst/>
            <a:ahLst/>
            <a:cxnLst/>
            <a:rect l="l" t="t" r="r" b="b"/>
            <a:pathLst>
              <a:path w="5010340" h="5010340">
                <a:moveTo>
                  <a:pt x="0" y="0"/>
                </a:moveTo>
                <a:lnTo>
                  <a:pt x="5010340" y="0"/>
                </a:lnTo>
                <a:lnTo>
                  <a:pt x="5010340" y="5010340"/>
                </a:lnTo>
                <a:lnTo>
                  <a:pt x="0" y="501034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58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grpSp>
        <p:nvGrpSpPr>
          <p:cNvPr id="5" name="Group 5">
            <a:extLst>
              <a:ext uri="{FF2B5EF4-FFF2-40B4-BE49-F238E27FC236}">
                <a16:creationId xmlns:a16="http://schemas.microsoft.com/office/drawing/2014/main" id="{A8A71CB9-0F4F-0DE4-92EC-02481CEA2796}"/>
              </a:ext>
            </a:extLst>
          </p:cNvPr>
          <p:cNvGrpSpPr/>
          <p:nvPr/>
        </p:nvGrpSpPr>
        <p:grpSpPr>
          <a:xfrm>
            <a:off x="-799737" y="-2386992"/>
            <a:ext cx="4526045" cy="4526045"/>
            <a:chOff x="0" y="0"/>
            <a:chExt cx="812800" cy="812800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86288E74-E532-FEE0-C82E-9193BC76242A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57150" cap="sq">
              <a:solidFill>
                <a:srgbClr val="0B0B0B">
                  <a:alpha val="24706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420A08FD-CBA8-396C-EC7E-95465F040D0B}"/>
                </a:ext>
              </a:extLst>
            </p:cNvPr>
            <p:cNvSpPr txBox="1"/>
            <p:nvPr/>
          </p:nvSpPr>
          <p:spPr>
            <a:xfrm>
              <a:off x="76200" y="76200"/>
              <a:ext cx="660400" cy="660400"/>
            </a:xfrm>
            <a:prstGeom prst="rect">
              <a:avLst/>
            </a:prstGeom>
          </p:spPr>
          <p:txBody>
            <a:bodyPr lIns="28575" tIns="28575" rIns="28575" bIns="28575" rtlCol="0" anchor="ctr"/>
            <a:lstStyle/>
            <a:p>
              <a:pPr algn="ctr">
                <a:lnSpc>
                  <a:spcPts val="1589"/>
                </a:lnSpc>
              </a:pPr>
              <a:endParaRPr/>
            </a:p>
          </p:txBody>
        </p:sp>
      </p:grpSp>
      <p:grpSp>
        <p:nvGrpSpPr>
          <p:cNvPr id="8" name="Group 8">
            <a:extLst>
              <a:ext uri="{FF2B5EF4-FFF2-40B4-BE49-F238E27FC236}">
                <a16:creationId xmlns:a16="http://schemas.microsoft.com/office/drawing/2014/main" id="{A1742E64-D879-0C73-96FB-F53EEF265200}"/>
              </a:ext>
            </a:extLst>
          </p:cNvPr>
          <p:cNvGrpSpPr/>
          <p:nvPr/>
        </p:nvGrpSpPr>
        <p:grpSpPr>
          <a:xfrm>
            <a:off x="-2341697" y="806833"/>
            <a:ext cx="4526045" cy="4526045"/>
            <a:chOff x="0" y="0"/>
            <a:chExt cx="812800" cy="812800"/>
          </a:xfrm>
        </p:grpSpPr>
        <p:sp>
          <p:nvSpPr>
            <p:cNvPr id="9" name="Freeform 9">
              <a:extLst>
                <a:ext uri="{FF2B5EF4-FFF2-40B4-BE49-F238E27FC236}">
                  <a16:creationId xmlns:a16="http://schemas.microsoft.com/office/drawing/2014/main" id="{D97EA975-E3B2-E636-CBA1-75DED4DF0B78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57150" cap="sq">
              <a:solidFill>
                <a:srgbClr val="837E7B">
                  <a:alpha val="24706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10" name="TextBox 10">
              <a:extLst>
                <a:ext uri="{FF2B5EF4-FFF2-40B4-BE49-F238E27FC236}">
                  <a16:creationId xmlns:a16="http://schemas.microsoft.com/office/drawing/2014/main" id="{3A022715-84CC-951D-59D1-F828C51250E2}"/>
                </a:ext>
              </a:extLst>
            </p:cNvPr>
            <p:cNvSpPr txBox="1"/>
            <p:nvPr/>
          </p:nvSpPr>
          <p:spPr>
            <a:xfrm>
              <a:off x="76200" y="76200"/>
              <a:ext cx="660400" cy="660400"/>
            </a:xfrm>
            <a:prstGeom prst="rect">
              <a:avLst/>
            </a:prstGeom>
          </p:spPr>
          <p:txBody>
            <a:bodyPr lIns="28575" tIns="28575" rIns="28575" bIns="28575" rtlCol="0" anchor="ctr"/>
            <a:lstStyle/>
            <a:p>
              <a:pPr algn="ctr">
                <a:lnSpc>
                  <a:spcPts val="1589"/>
                </a:lnSpc>
              </a:pPr>
              <a:endParaRPr/>
            </a:p>
          </p:txBody>
        </p:sp>
      </p:grpSp>
      <p:sp>
        <p:nvSpPr>
          <p:cNvPr id="11" name="Freeform 11">
            <a:extLst>
              <a:ext uri="{FF2B5EF4-FFF2-40B4-BE49-F238E27FC236}">
                <a16:creationId xmlns:a16="http://schemas.microsoft.com/office/drawing/2014/main" id="{1AEFC036-88DB-4653-4B69-0A6A5742617E}"/>
              </a:ext>
            </a:extLst>
          </p:cNvPr>
          <p:cNvSpPr/>
          <p:nvPr/>
        </p:nvSpPr>
        <p:spPr>
          <a:xfrm>
            <a:off x="11840783" y="2235973"/>
            <a:ext cx="5010340" cy="5010340"/>
          </a:xfrm>
          <a:custGeom>
            <a:avLst/>
            <a:gdLst/>
            <a:ahLst/>
            <a:cxnLst/>
            <a:rect l="l" t="t" r="r" b="b"/>
            <a:pathLst>
              <a:path w="5010340" h="5010340">
                <a:moveTo>
                  <a:pt x="0" y="0"/>
                </a:moveTo>
                <a:lnTo>
                  <a:pt x="5010340" y="0"/>
                </a:lnTo>
                <a:lnTo>
                  <a:pt x="5010340" y="5010340"/>
                </a:lnTo>
                <a:lnTo>
                  <a:pt x="0" y="501034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58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sp>
        <p:nvSpPr>
          <p:cNvPr id="13" name="TextBox 13">
            <a:extLst>
              <a:ext uri="{FF2B5EF4-FFF2-40B4-BE49-F238E27FC236}">
                <a16:creationId xmlns:a16="http://schemas.microsoft.com/office/drawing/2014/main" id="{3007F6BC-4434-9538-DAC8-70AFD7099E52}"/>
              </a:ext>
            </a:extLst>
          </p:cNvPr>
          <p:cNvSpPr txBox="1"/>
          <p:nvPr/>
        </p:nvSpPr>
        <p:spPr>
          <a:xfrm>
            <a:off x="1591330" y="806833"/>
            <a:ext cx="4733270" cy="81881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l">
              <a:lnSpc>
                <a:spcPts val="3027"/>
              </a:lnSpc>
            </a:pPr>
            <a:r>
              <a:rPr lang="en-US" sz="3784" spc="140" dirty="0">
                <a:solidFill>
                  <a:srgbClr val="7189C2"/>
                </a:solidFill>
                <a:latin typeface="Nunito Sans"/>
                <a:ea typeface="Nunito Sans"/>
                <a:cs typeface="Nunito Sans"/>
                <a:sym typeface="Nunito Sans"/>
              </a:rPr>
              <a:t>MELHORIAS</a:t>
            </a:r>
          </a:p>
          <a:p>
            <a:pPr marL="0" lvl="0" indent="0" algn="l">
              <a:lnSpc>
                <a:spcPts val="3027"/>
              </a:lnSpc>
            </a:pPr>
            <a:r>
              <a:rPr lang="en-US" sz="3784" spc="140" dirty="0">
                <a:solidFill>
                  <a:srgbClr val="7189C2"/>
                </a:solidFill>
                <a:latin typeface="Nunito Sans"/>
                <a:ea typeface="Nunito Sans"/>
                <a:cs typeface="Nunito Sans"/>
                <a:sym typeface="Nunito Sans"/>
              </a:rPr>
              <a:t>	             ADMIN</a:t>
            </a:r>
          </a:p>
        </p:txBody>
      </p:sp>
      <p:sp>
        <p:nvSpPr>
          <p:cNvPr id="17" name="CaixaDeTexto 16">
            <a:extLst>
              <a:ext uri="{FF2B5EF4-FFF2-40B4-BE49-F238E27FC236}">
                <a16:creationId xmlns:a16="http://schemas.microsoft.com/office/drawing/2014/main" id="{1773B5FD-511D-EA7C-8299-B1D40ACCF5EA}"/>
              </a:ext>
            </a:extLst>
          </p:cNvPr>
          <p:cNvSpPr txBox="1"/>
          <p:nvPr/>
        </p:nvSpPr>
        <p:spPr>
          <a:xfrm>
            <a:off x="2861749" y="3132676"/>
            <a:ext cx="10817678" cy="22467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pt-BR" sz="2800" dirty="0"/>
              <a:t>Dashboard administrativo com métricas do sistema;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pt-BR" sz="2800" dirty="0"/>
              <a:t>Controle avançado de permissões e perfis;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pt-BR" sz="2800" dirty="0"/>
              <a:t>Auditoria e histórico de ações dos usuários;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pt-BR" sz="2800" dirty="0"/>
              <a:t>Relatórios gerenciais em PDF e Excel;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pt-BR" sz="2800" dirty="0"/>
              <a:t>Gerenciamento administrativo dos ativos importados pela API.</a:t>
            </a:r>
            <a:endParaRPr lang="pt-BR" sz="2800" dirty="0">
              <a:solidFill>
                <a:schemeClr val="tx2">
                  <a:lumMod val="75000"/>
                </a:schemeClr>
              </a:solidFill>
              <a:latin typeface="Nunito Sans" pitchFamily="2" charset="0"/>
            </a:endParaRPr>
          </a:p>
        </p:txBody>
      </p:sp>
      <p:sp>
        <p:nvSpPr>
          <p:cNvPr id="12" name="Freeform 14">
            <a:extLst>
              <a:ext uri="{FF2B5EF4-FFF2-40B4-BE49-F238E27FC236}">
                <a16:creationId xmlns:a16="http://schemas.microsoft.com/office/drawing/2014/main" id="{D52FCCD9-96BE-DE20-5046-6B398F008295}"/>
              </a:ext>
            </a:extLst>
          </p:cNvPr>
          <p:cNvSpPr/>
          <p:nvPr/>
        </p:nvSpPr>
        <p:spPr>
          <a:xfrm>
            <a:off x="6177102" y="2589170"/>
            <a:ext cx="5933796" cy="5108660"/>
          </a:xfrm>
          <a:custGeom>
            <a:avLst/>
            <a:gdLst/>
            <a:ahLst/>
            <a:cxnLst/>
            <a:rect l="l" t="t" r="r" b="b"/>
            <a:pathLst>
              <a:path w="1221218" h="1081985">
                <a:moveTo>
                  <a:pt x="0" y="0"/>
                </a:moveTo>
                <a:lnTo>
                  <a:pt x="1221219" y="0"/>
                </a:lnTo>
                <a:lnTo>
                  <a:pt x="1221219" y="1081984"/>
                </a:lnTo>
                <a:lnTo>
                  <a:pt x="0" y="108198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29000"/>
            </a:blip>
            <a:stretch>
              <a:fillRect l="-121577" t="-29090" r="-117623" b="-80041"/>
            </a:stretch>
          </a:blipFill>
        </p:spPr>
        <p:txBody>
          <a:bodyPr/>
          <a:lstStyle/>
          <a:p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55717357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EBE9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EE52918-8E80-9317-5D06-630320092F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53132CA6-FBA1-BBBB-48B8-B279D5B8F7B7}"/>
              </a:ext>
            </a:extLst>
          </p:cNvPr>
          <p:cNvSpPr/>
          <p:nvPr/>
        </p:nvSpPr>
        <p:spPr>
          <a:xfrm flipV="1">
            <a:off x="13332616" y="-1117411"/>
            <a:ext cx="5933796" cy="5944604"/>
          </a:xfrm>
          <a:custGeom>
            <a:avLst/>
            <a:gdLst/>
            <a:ahLst/>
            <a:cxnLst/>
            <a:rect l="l" t="t" r="r" b="b"/>
            <a:pathLst>
              <a:path w="5933796" h="5944604">
                <a:moveTo>
                  <a:pt x="0" y="5944604"/>
                </a:moveTo>
                <a:lnTo>
                  <a:pt x="5933796" y="5944604"/>
                </a:lnTo>
                <a:lnTo>
                  <a:pt x="5933796" y="0"/>
                </a:lnTo>
                <a:lnTo>
                  <a:pt x="0" y="0"/>
                </a:lnTo>
                <a:lnTo>
                  <a:pt x="0" y="5944604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sp>
        <p:nvSpPr>
          <p:cNvPr id="3" name="Freeform 3">
            <a:extLst>
              <a:ext uri="{FF2B5EF4-FFF2-40B4-BE49-F238E27FC236}">
                <a16:creationId xmlns:a16="http://schemas.microsoft.com/office/drawing/2014/main" id="{925FA9F8-B7B5-7B66-B023-3118E83A164A}"/>
              </a:ext>
            </a:extLst>
          </p:cNvPr>
          <p:cNvSpPr/>
          <p:nvPr/>
        </p:nvSpPr>
        <p:spPr>
          <a:xfrm flipV="1">
            <a:off x="152400" y="7193834"/>
            <a:ext cx="5099372" cy="5108660"/>
          </a:xfrm>
          <a:custGeom>
            <a:avLst/>
            <a:gdLst/>
            <a:ahLst/>
            <a:cxnLst/>
            <a:rect l="l" t="t" r="r" b="b"/>
            <a:pathLst>
              <a:path w="5099372" h="5108660">
                <a:moveTo>
                  <a:pt x="0" y="5108660"/>
                </a:moveTo>
                <a:lnTo>
                  <a:pt x="5099372" y="5108660"/>
                </a:lnTo>
                <a:lnTo>
                  <a:pt x="5099372" y="0"/>
                </a:lnTo>
                <a:lnTo>
                  <a:pt x="0" y="0"/>
                </a:lnTo>
                <a:lnTo>
                  <a:pt x="0" y="510866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sp>
        <p:nvSpPr>
          <p:cNvPr id="4" name="Freeform 4">
            <a:extLst>
              <a:ext uri="{FF2B5EF4-FFF2-40B4-BE49-F238E27FC236}">
                <a16:creationId xmlns:a16="http://schemas.microsoft.com/office/drawing/2014/main" id="{E39988F9-CD30-C7B2-5386-2A5201489E1B}"/>
              </a:ext>
            </a:extLst>
          </p:cNvPr>
          <p:cNvSpPr/>
          <p:nvPr/>
        </p:nvSpPr>
        <p:spPr>
          <a:xfrm>
            <a:off x="2888963" y="7193834"/>
            <a:ext cx="5010340" cy="5010340"/>
          </a:xfrm>
          <a:custGeom>
            <a:avLst/>
            <a:gdLst/>
            <a:ahLst/>
            <a:cxnLst/>
            <a:rect l="l" t="t" r="r" b="b"/>
            <a:pathLst>
              <a:path w="5010340" h="5010340">
                <a:moveTo>
                  <a:pt x="0" y="0"/>
                </a:moveTo>
                <a:lnTo>
                  <a:pt x="5010340" y="0"/>
                </a:lnTo>
                <a:lnTo>
                  <a:pt x="5010340" y="5010340"/>
                </a:lnTo>
                <a:lnTo>
                  <a:pt x="0" y="501034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58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grpSp>
        <p:nvGrpSpPr>
          <p:cNvPr id="5" name="Group 5">
            <a:extLst>
              <a:ext uri="{FF2B5EF4-FFF2-40B4-BE49-F238E27FC236}">
                <a16:creationId xmlns:a16="http://schemas.microsoft.com/office/drawing/2014/main" id="{4C6369B9-808C-86F3-28F4-174D01C25808}"/>
              </a:ext>
            </a:extLst>
          </p:cNvPr>
          <p:cNvGrpSpPr/>
          <p:nvPr/>
        </p:nvGrpSpPr>
        <p:grpSpPr>
          <a:xfrm>
            <a:off x="-799737" y="-2386992"/>
            <a:ext cx="4526045" cy="4526045"/>
            <a:chOff x="0" y="0"/>
            <a:chExt cx="812800" cy="812800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A07126AC-8E41-8975-2270-1083BC6A72E2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57150" cap="sq">
              <a:solidFill>
                <a:srgbClr val="0B0B0B">
                  <a:alpha val="24706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0B95C4F8-474E-8101-56D9-D6172777FC2B}"/>
                </a:ext>
              </a:extLst>
            </p:cNvPr>
            <p:cNvSpPr txBox="1"/>
            <p:nvPr/>
          </p:nvSpPr>
          <p:spPr>
            <a:xfrm>
              <a:off x="76200" y="76200"/>
              <a:ext cx="660400" cy="660400"/>
            </a:xfrm>
            <a:prstGeom prst="rect">
              <a:avLst/>
            </a:prstGeom>
          </p:spPr>
          <p:txBody>
            <a:bodyPr lIns="28575" tIns="28575" rIns="28575" bIns="28575" rtlCol="0" anchor="ctr"/>
            <a:lstStyle/>
            <a:p>
              <a:pPr algn="ctr">
                <a:lnSpc>
                  <a:spcPts val="1589"/>
                </a:lnSpc>
              </a:pPr>
              <a:endParaRPr/>
            </a:p>
          </p:txBody>
        </p:sp>
      </p:grpSp>
      <p:grpSp>
        <p:nvGrpSpPr>
          <p:cNvPr id="8" name="Group 8">
            <a:extLst>
              <a:ext uri="{FF2B5EF4-FFF2-40B4-BE49-F238E27FC236}">
                <a16:creationId xmlns:a16="http://schemas.microsoft.com/office/drawing/2014/main" id="{65482DB3-4EF5-B3DF-F055-E7879F312314}"/>
              </a:ext>
            </a:extLst>
          </p:cNvPr>
          <p:cNvGrpSpPr/>
          <p:nvPr/>
        </p:nvGrpSpPr>
        <p:grpSpPr>
          <a:xfrm>
            <a:off x="-2341697" y="806833"/>
            <a:ext cx="4526045" cy="4526045"/>
            <a:chOff x="0" y="0"/>
            <a:chExt cx="812800" cy="812800"/>
          </a:xfrm>
        </p:grpSpPr>
        <p:sp>
          <p:nvSpPr>
            <p:cNvPr id="9" name="Freeform 9">
              <a:extLst>
                <a:ext uri="{FF2B5EF4-FFF2-40B4-BE49-F238E27FC236}">
                  <a16:creationId xmlns:a16="http://schemas.microsoft.com/office/drawing/2014/main" id="{C428B9A9-DC2A-57F7-F032-40E12490F0F0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57150" cap="sq">
              <a:solidFill>
                <a:srgbClr val="837E7B">
                  <a:alpha val="24706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10" name="TextBox 10">
              <a:extLst>
                <a:ext uri="{FF2B5EF4-FFF2-40B4-BE49-F238E27FC236}">
                  <a16:creationId xmlns:a16="http://schemas.microsoft.com/office/drawing/2014/main" id="{71A00067-27AB-113A-1BD0-FBC1C99C9D7F}"/>
                </a:ext>
              </a:extLst>
            </p:cNvPr>
            <p:cNvSpPr txBox="1"/>
            <p:nvPr/>
          </p:nvSpPr>
          <p:spPr>
            <a:xfrm>
              <a:off x="76200" y="76200"/>
              <a:ext cx="660400" cy="660400"/>
            </a:xfrm>
            <a:prstGeom prst="rect">
              <a:avLst/>
            </a:prstGeom>
          </p:spPr>
          <p:txBody>
            <a:bodyPr lIns="28575" tIns="28575" rIns="28575" bIns="28575" rtlCol="0" anchor="ctr"/>
            <a:lstStyle/>
            <a:p>
              <a:pPr algn="ctr">
                <a:lnSpc>
                  <a:spcPts val="1589"/>
                </a:lnSpc>
              </a:pPr>
              <a:endParaRPr/>
            </a:p>
          </p:txBody>
        </p:sp>
      </p:grpSp>
      <p:sp>
        <p:nvSpPr>
          <p:cNvPr id="11" name="Freeform 11">
            <a:extLst>
              <a:ext uri="{FF2B5EF4-FFF2-40B4-BE49-F238E27FC236}">
                <a16:creationId xmlns:a16="http://schemas.microsoft.com/office/drawing/2014/main" id="{FFEC07DD-70C8-35FB-C478-DCD1057AFC8E}"/>
              </a:ext>
            </a:extLst>
          </p:cNvPr>
          <p:cNvSpPr/>
          <p:nvPr/>
        </p:nvSpPr>
        <p:spPr>
          <a:xfrm>
            <a:off x="11840783" y="2235973"/>
            <a:ext cx="5010340" cy="5010340"/>
          </a:xfrm>
          <a:custGeom>
            <a:avLst/>
            <a:gdLst/>
            <a:ahLst/>
            <a:cxnLst/>
            <a:rect l="l" t="t" r="r" b="b"/>
            <a:pathLst>
              <a:path w="5010340" h="5010340">
                <a:moveTo>
                  <a:pt x="0" y="0"/>
                </a:moveTo>
                <a:lnTo>
                  <a:pt x="5010340" y="0"/>
                </a:lnTo>
                <a:lnTo>
                  <a:pt x="5010340" y="5010340"/>
                </a:lnTo>
                <a:lnTo>
                  <a:pt x="0" y="501034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58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sp>
        <p:nvSpPr>
          <p:cNvPr id="13" name="TextBox 13">
            <a:extLst>
              <a:ext uri="{FF2B5EF4-FFF2-40B4-BE49-F238E27FC236}">
                <a16:creationId xmlns:a16="http://schemas.microsoft.com/office/drawing/2014/main" id="{C78A445A-1164-6F79-625F-3F28073CFF39}"/>
              </a:ext>
            </a:extLst>
          </p:cNvPr>
          <p:cNvSpPr txBox="1"/>
          <p:nvPr/>
        </p:nvSpPr>
        <p:spPr>
          <a:xfrm>
            <a:off x="1591330" y="806833"/>
            <a:ext cx="4733270" cy="81881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l">
              <a:lnSpc>
                <a:spcPts val="3027"/>
              </a:lnSpc>
            </a:pPr>
            <a:r>
              <a:rPr lang="en-US" sz="3784" spc="140" dirty="0">
                <a:solidFill>
                  <a:srgbClr val="7189C2"/>
                </a:solidFill>
                <a:latin typeface="Nunito Sans"/>
                <a:ea typeface="Nunito Sans"/>
                <a:cs typeface="Nunito Sans"/>
                <a:sym typeface="Nunito Sans"/>
              </a:rPr>
              <a:t>MELHORIAS</a:t>
            </a:r>
          </a:p>
          <a:p>
            <a:pPr marL="0" lvl="0" indent="0" algn="l">
              <a:lnSpc>
                <a:spcPts val="3027"/>
              </a:lnSpc>
            </a:pPr>
            <a:r>
              <a:rPr lang="en-US" sz="3784" spc="140" dirty="0">
                <a:solidFill>
                  <a:srgbClr val="7189C2"/>
                </a:solidFill>
                <a:latin typeface="Nunito Sans"/>
                <a:ea typeface="Nunito Sans"/>
                <a:cs typeface="Nunito Sans"/>
                <a:sym typeface="Nunito Sans"/>
              </a:rPr>
              <a:t>	             USER</a:t>
            </a:r>
          </a:p>
        </p:txBody>
      </p:sp>
      <p:sp>
        <p:nvSpPr>
          <p:cNvPr id="17" name="CaixaDeTexto 16">
            <a:extLst>
              <a:ext uri="{FF2B5EF4-FFF2-40B4-BE49-F238E27FC236}">
                <a16:creationId xmlns:a16="http://schemas.microsoft.com/office/drawing/2014/main" id="{AB68A265-F559-8862-D5BB-71070AEAF2B6}"/>
              </a:ext>
            </a:extLst>
          </p:cNvPr>
          <p:cNvSpPr txBox="1"/>
          <p:nvPr/>
        </p:nvSpPr>
        <p:spPr>
          <a:xfrm>
            <a:off x="2861749" y="3132676"/>
            <a:ext cx="10817678" cy="22467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pt-BR" sz="2800" dirty="0"/>
              <a:t>Lista de ativos favoritos e </a:t>
            </a:r>
            <a:r>
              <a:rPr lang="pt-BR" sz="2800" dirty="0" err="1"/>
              <a:t>watchlist</a:t>
            </a:r>
            <a:r>
              <a:rPr lang="pt-BR" sz="2800" dirty="0"/>
              <a:t>;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pt-BR" sz="2800" dirty="0"/>
              <a:t>Alertas personalizados de preço;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pt-BR" sz="2800" dirty="0"/>
              <a:t>Gráficos de desempenho da carteira;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pt-BR" sz="2800" dirty="0"/>
              <a:t>Indicadores de rentabilidade e lucro/prejuízo;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pt-BR" sz="2800" dirty="0"/>
              <a:t>Personalização do dashboard.</a:t>
            </a:r>
            <a:endParaRPr lang="pt-BR" sz="2800" dirty="0">
              <a:solidFill>
                <a:schemeClr val="tx2">
                  <a:lumMod val="75000"/>
                </a:schemeClr>
              </a:solidFill>
              <a:latin typeface="Nunito Sans" pitchFamily="2" charset="0"/>
            </a:endParaRPr>
          </a:p>
        </p:txBody>
      </p:sp>
      <p:sp>
        <p:nvSpPr>
          <p:cNvPr id="12" name="Freeform 14">
            <a:extLst>
              <a:ext uri="{FF2B5EF4-FFF2-40B4-BE49-F238E27FC236}">
                <a16:creationId xmlns:a16="http://schemas.microsoft.com/office/drawing/2014/main" id="{DEDBE97D-B56B-AC5C-D26F-2D0DEB0D0826}"/>
              </a:ext>
            </a:extLst>
          </p:cNvPr>
          <p:cNvSpPr/>
          <p:nvPr/>
        </p:nvSpPr>
        <p:spPr>
          <a:xfrm>
            <a:off x="6177102" y="2589170"/>
            <a:ext cx="5933796" cy="5108660"/>
          </a:xfrm>
          <a:custGeom>
            <a:avLst/>
            <a:gdLst/>
            <a:ahLst/>
            <a:cxnLst/>
            <a:rect l="l" t="t" r="r" b="b"/>
            <a:pathLst>
              <a:path w="1221218" h="1081985">
                <a:moveTo>
                  <a:pt x="0" y="0"/>
                </a:moveTo>
                <a:lnTo>
                  <a:pt x="1221219" y="0"/>
                </a:lnTo>
                <a:lnTo>
                  <a:pt x="1221219" y="1081984"/>
                </a:lnTo>
                <a:lnTo>
                  <a:pt x="0" y="108198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29000"/>
            </a:blip>
            <a:stretch>
              <a:fillRect l="-121577" t="-29090" r="-117623" b="-80041"/>
            </a:stretch>
          </a:blipFill>
        </p:spPr>
        <p:txBody>
          <a:bodyPr/>
          <a:lstStyle/>
          <a:p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7312130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EBE9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4A8C787-72D1-6066-55ED-7B428A23CE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2CC828CB-C8FC-D1FC-A2A7-04CB23D779BE}"/>
              </a:ext>
            </a:extLst>
          </p:cNvPr>
          <p:cNvSpPr/>
          <p:nvPr/>
        </p:nvSpPr>
        <p:spPr>
          <a:xfrm flipV="1">
            <a:off x="13332616" y="-1117411"/>
            <a:ext cx="5933796" cy="5944604"/>
          </a:xfrm>
          <a:custGeom>
            <a:avLst/>
            <a:gdLst/>
            <a:ahLst/>
            <a:cxnLst/>
            <a:rect l="l" t="t" r="r" b="b"/>
            <a:pathLst>
              <a:path w="5933796" h="5944604">
                <a:moveTo>
                  <a:pt x="0" y="5944604"/>
                </a:moveTo>
                <a:lnTo>
                  <a:pt x="5933796" y="5944604"/>
                </a:lnTo>
                <a:lnTo>
                  <a:pt x="5933796" y="0"/>
                </a:lnTo>
                <a:lnTo>
                  <a:pt x="0" y="0"/>
                </a:lnTo>
                <a:lnTo>
                  <a:pt x="0" y="5944604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sp>
        <p:nvSpPr>
          <p:cNvPr id="3" name="Freeform 3">
            <a:extLst>
              <a:ext uri="{FF2B5EF4-FFF2-40B4-BE49-F238E27FC236}">
                <a16:creationId xmlns:a16="http://schemas.microsoft.com/office/drawing/2014/main" id="{37CB1E10-3857-9E59-E714-AFF106D88CC9}"/>
              </a:ext>
            </a:extLst>
          </p:cNvPr>
          <p:cNvSpPr/>
          <p:nvPr/>
        </p:nvSpPr>
        <p:spPr>
          <a:xfrm flipV="1">
            <a:off x="152400" y="7193834"/>
            <a:ext cx="5099372" cy="5108660"/>
          </a:xfrm>
          <a:custGeom>
            <a:avLst/>
            <a:gdLst/>
            <a:ahLst/>
            <a:cxnLst/>
            <a:rect l="l" t="t" r="r" b="b"/>
            <a:pathLst>
              <a:path w="5099372" h="5108660">
                <a:moveTo>
                  <a:pt x="0" y="5108660"/>
                </a:moveTo>
                <a:lnTo>
                  <a:pt x="5099372" y="5108660"/>
                </a:lnTo>
                <a:lnTo>
                  <a:pt x="5099372" y="0"/>
                </a:lnTo>
                <a:lnTo>
                  <a:pt x="0" y="0"/>
                </a:lnTo>
                <a:lnTo>
                  <a:pt x="0" y="510866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sp>
        <p:nvSpPr>
          <p:cNvPr id="4" name="Freeform 4">
            <a:extLst>
              <a:ext uri="{FF2B5EF4-FFF2-40B4-BE49-F238E27FC236}">
                <a16:creationId xmlns:a16="http://schemas.microsoft.com/office/drawing/2014/main" id="{5D6D660A-21C3-DD57-174D-607B8BCD52E6}"/>
              </a:ext>
            </a:extLst>
          </p:cNvPr>
          <p:cNvSpPr/>
          <p:nvPr/>
        </p:nvSpPr>
        <p:spPr>
          <a:xfrm>
            <a:off x="2888963" y="7193834"/>
            <a:ext cx="5010340" cy="5010340"/>
          </a:xfrm>
          <a:custGeom>
            <a:avLst/>
            <a:gdLst/>
            <a:ahLst/>
            <a:cxnLst/>
            <a:rect l="l" t="t" r="r" b="b"/>
            <a:pathLst>
              <a:path w="5010340" h="5010340">
                <a:moveTo>
                  <a:pt x="0" y="0"/>
                </a:moveTo>
                <a:lnTo>
                  <a:pt x="5010340" y="0"/>
                </a:lnTo>
                <a:lnTo>
                  <a:pt x="5010340" y="5010340"/>
                </a:lnTo>
                <a:lnTo>
                  <a:pt x="0" y="501034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58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grpSp>
        <p:nvGrpSpPr>
          <p:cNvPr id="5" name="Group 5">
            <a:extLst>
              <a:ext uri="{FF2B5EF4-FFF2-40B4-BE49-F238E27FC236}">
                <a16:creationId xmlns:a16="http://schemas.microsoft.com/office/drawing/2014/main" id="{D303B1D1-573A-D32C-152E-6CB6957A5997}"/>
              </a:ext>
            </a:extLst>
          </p:cNvPr>
          <p:cNvGrpSpPr/>
          <p:nvPr/>
        </p:nvGrpSpPr>
        <p:grpSpPr>
          <a:xfrm>
            <a:off x="-799737" y="-2386992"/>
            <a:ext cx="4526045" cy="4526045"/>
            <a:chOff x="0" y="0"/>
            <a:chExt cx="812800" cy="812800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EF2E5269-A291-DFCD-6F25-075E0D5046B5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57150" cap="sq">
              <a:solidFill>
                <a:srgbClr val="0B0B0B">
                  <a:alpha val="24706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AA23A0E6-E163-575D-C024-91CAC5416F98}"/>
                </a:ext>
              </a:extLst>
            </p:cNvPr>
            <p:cNvSpPr txBox="1"/>
            <p:nvPr/>
          </p:nvSpPr>
          <p:spPr>
            <a:xfrm>
              <a:off x="76200" y="76200"/>
              <a:ext cx="660400" cy="660400"/>
            </a:xfrm>
            <a:prstGeom prst="rect">
              <a:avLst/>
            </a:prstGeom>
          </p:spPr>
          <p:txBody>
            <a:bodyPr lIns="28575" tIns="28575" rIns="28575" bIns="28575" rtlCol="0" anchor="ctr"/>
            <a:lstStyle/>
            <a:p>
              <a:pPr algn="ctr">
                <a:lnSpc>
                  <a:spcPts val="1589"/>
                </a:lnSpc>
              </a:pPr>
              <a:endParaRPr/>
            </a:p>
          </p:txBody>
        </p:sp>
      </p:grpSp>
      <p:grpSp>
        <p:nvGrpSpPr>
          <p:cNvPr id="8" name="Group 8">
            <a:extLst>
              <a:ext uri="{FF2B5EF4-FFF2-40B4-BE49-F238E27FC236}">
                <a16:creationId xmlns:a16="http://schemas.microsoft.com/office/drawing/2014/main" id="{17437754-8A5F-CD0C-425A-FDFD7073A0DE}"/>
              </a:ext>
            </a:extLst>
          </p:cNvPr>
          <p:cNvGrpSpPr/>
          <p:nvPr/>
        </p:nvGrpSpPr>
        <p:grpSpPr>
          <a:xfrm>
            <a:off x="-2341697" y="806833"/>
            <a:ext cx="4526045" cy="4526045"/>
            <a:chOff x="0" y="0"/>
            <a:chExt cx="812800" cy="812800"/>
          </a:xfrm>
        </p:grpSpPr>
        <p:sp>
          <p:nvSpPr>
            <p:cNvPr id="9" name="Freeform 9">
              <a:extLst>
                <a:ext uri="{FF2B5EF4-FFF2-40B4-BE49-F238E27FC236}">
                  <a16:creationId xmlns:a16="http://schemas.microsoft.com/office/drawing/2014/main" id="{07D051C8-A38A-0643-5B23-C8577E22B314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57150" cap="sq">
              <a:solidFill>
                <a:srgbClr val="837E7B">
                  <a:alpha val="24706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10" name="TextBox 10">
              <a:extLst>
                <a:ext uri="{FF2B5EF4-FFF2-40B4-BE49-F238E27FC236}">
                  <a16:creationId xmlns:a16="http://schemas.microsoft.com/office/drawing/2014/main" id="{57F477CB-A7E1-8B0E-283C-25281F8FBBEE}"/>
                </a:ext>
              </a:extLst>
            </p:cNvPr>
            <p:cNvSpPr txBox="1"/>
            <p:nvPr/>
          </p:nvSpPr>
          <p:spPr>
            <a:xfrm>
              <a:off x="76200" y="76200"/>
              <a:ext cx="660400" cy="660400"/>
            </a:xfrm>
            <a:prstGeom prst="rect">
              <a:avLst/>
            </a:prstGeom>
          </p:spPr>
          <p:txBody>
            <a:bodyPr lIns="28575" tIns="28575" rIns="28575" bIns="28575" rtlCol="0" anchor="ctr"/>
            <a:lstStyle/>
            <a:p>
              <a:pPr algn="ctr">
                <a:lnSpc>
                  <a:spcPts val="1589"/>
                </a:lnSpc>
              </a:pPr>
              <a:endParaRPr/>
            </a:p>
          </p:txBody>
        </p:sp>
      </p:grpSp>
      <p:sp>
        <p:nvSpPr>
          <p:cNvPr id="11" name="Freeform 11">
            <a:extLst>
              <a:ext uri="{FF2B5EF4-FFF2-40B4-BE49-F238E27FC236}">
                <a16:creationId xmlns:a16="http://schemas.microsoft.com/office/drawing/2014/main" id="{6FF02BC3-2D16-7197-1DAC-CA178A05B1CE}"/>
              </a:ext>
            </a:extLst>
          </p:cNvPr>
          <p:cNvSpPr/>
          <p:nvPr/>
        </p:nvSpPr>
        <p:spPr>
          <a:xfrm>
            <a:off x="11840783" y="2235973"/>
            <a:ext cx="5010340" cy="5010340"/>
          </a:xfrm>
          <a:custGeom>
            <a:avLst/>
            <a:gdLst/>
            <a:ahLst/>
            <a:cxnLst/>
            <a:rect l="l" t="t" r="r" b="b"/>
            <a:pathLst>
              <a:path w="5010340" h="5010340">
                <a:moveTo>
                  <a:pt x="0" y="0"/>
                </a:moveTo>
                <a:lnTo>
                  <a:pt x="5010340" y="0"/>
                </a:lnTo>
                <a:lnTo>
                  <a:pt x="5010340" y="5010340"/>
                </a:lnTo>
                <a:lnTo>
                  <a:pt x="0" y="501034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58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sp>
        <p:nvSpPr>
          <p:cNvPr id="13" name="TextBox 13">
            <a:extLst>
              <a:ext uri="{FF2B5EF4-FFF2-40B4-BE49-F238E27FC236}">
                <a16:creationId xmlns:a16="http://schemas.microsoft.com/office/drawing/2014/main" id="{1C76C6EA-F34B-2696-666E-80E38BB16639}"/>
              </a:ext>
            </a:extLst>
          </p:cNvPr>
          <p:cNvSpPr txBox="1"/>
          <p:nvPr/>
        </p:nvSpPr>
        <p:spPr>
          <a:xfrm>
            <a:off x="1591330" y="806833"/>
            <a:ext cx="4733270" cy="43409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l">
              <a:lnSpc>
                <a:spcPts val="3027"/>
              </a:lnSpc>
            </a:pPr>
            <a:r>
              <a:rPr lang="en-US" sz="3784" spc="140" dirty="0">
                <a:solidFill>
                  <a:srgbClr val="7189C2"/>
                </a:solidFill>
                <a:latin typeface="Nunito Sans"/>
                <a:ea typeface="Nunito Sans"/>
                <a:cs typeface="Nunito Sans"/>
                <a:sym typeface="Nunito Sans"/>
              </a:rPr>
              <a:t>CONCLUSÃO</a:t>
            </a:r>
          </a:p>
        </p:txBody>
      </p:sp>
      <p:sp>
        <p:nvSpPr>
          <p:cNvPr id="17" name="CaixaDeTexto 16">
            <a:extLst>
              <a:ext uri="{FF2B5EF4-FFF2-40B4-BE49-F238E27FC236}">
                <a16:creationId xmlns:a16="http://schemas.microsoft.com/office/drawing/2014/main" id="{D58674F3-43FE-0CF3-0BFC-194667D952DE}"/>
              </a:ext>
            </a:extLst>
          </p:cNvPr>
          <p:cNvSpPr txBox="1"/>
          <p:nvPr/>
        </p:nvSpPr>
        <p:spPr>
          <a:xfrm>
            <a:off x="2861749" y="3132676"/>
            <a:ext cx="10817678" cy="2677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2800" dirty="0"/>
              <a:t>O Sistema de Gestão de Investimentos cumpriu seu propósito de auxiliar no controle e acompanhamento de investimentos, integrando gerenciamento de usuários, consulta de ativos e registro de operações em uma única plataforma. O projeto permitiu a aplicação prática dos conceitos estudados e estabeleceu uma base consistente para futuras evoluções do sistema.</a:t>
            </a:r>
            <a:endParaRPr lang="pt-BR" sz="2800" dirty="0">
              <a:solidFill>
                <a:schemeClr val="tx2">
                  <a:lumMod val="75000"/>
                </a:schemeClr>
              </a:solidFill>
              <a:latin typeface="Nunito Sans" pitchFamily="2" charset="0"/>
            </a:endParaRPr>
          </a:p>
        </p:txBody>
      </p:sp>
      <p:sp>
        <p:nvSpPr>
          <p:cNvPr id="12" name="Freeform 14">
            <a:extLst>
              <a:ext uri="{FF2B5EF4-FFF2-40B4-BE49-F238E27FC236}">
                <a16:creationId xmlns:a16="http://schemas.microsoft.com/office/drawing/2014/main" id="{B7EA5775-1BF4-DD51-40D6-4280E174C3FE}"/>
              </a:ext>
            </a:extLst>
          </p:cNvPr>
          <p:cNvSpPr/>
          <p:nvPr/>
        </p:nvSpPr>
        <p:spPr>
          <a:xfrm>
            <a:off x="6177102" y="2589170"/>
            <a:ext cx="5933796" cy="5108660"/>
          </a:xfrm>
          <a:custGeom>
            <a:avLst/>
            <a:gdLst/>
            <a:ahLst/>
            <a:cxnLst/>
            <a:rect l="l" t="t" r="r" b="b"/>
            <a:pathLst>
              <a:path w="1221218" h="1081985">
                <a:moveTo>
                  <a:pt x="0" y="0"/>
                </a:moveTo>
                <a:lnTo>
                  <a:pt x="1221219" y="0"/>
                </a:lnTo>
                <a:lnTo>
                  <a:pt x="1221219" y="1081984"/>
                </a:lnTo>
                <a:lnTo>
                  <a:pt x="0" y="108198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29000"/>
            </a:blip>
            <a:stretch>
              <a:fillRect l="-121577" t="-29090" r="-117623" b="-80041"/>
            </a:stretch>
          </a:blipFill>
        </p:spPr>
        <p:txBody>
          <a:bodyPr/>
          <a:lstStyle/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419186347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EBE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5717729" y="1028700"/>
            <a:ext cx="6442548" cy="3870512"/>
          </a:xfrm>
          <a:custGeom>
            <a:avLst/>
            <a:gdLst/>
            <a:ahLst/>
            <a:cxnLst/>
            <a:rect l="l" t="t" r="r" b="b"/>
            <a:pathLst>
              <a:path w="6442548" h="3870512">
                <a:moveTo>
                  <a:pt x="0" y="0"/>
                </a:moveTo>
                <a:lnTo>
                  <a:pt x="6442548" y="0"/>
                </a:lnTo>
                <a:lnTo>
                  <a:pt x="6442548" y="3870512"/>
                </a:lnTo>
                <a:lnTo>
                  <a:pt x="0" y="387051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38537" t="-26806" r="-39715" b="-35165"/>
            </a:stretch>
          </a:blipFill>
        </p:spPr>
        <p:txBody>
          <a:bodyPr/>
          <a:lstStyle/>
          <a:p>
            <a:endParaRPr lang="pt-BR"/>
          </a:p>
        </p:txBody>
      </p:sp>
      <p:sp>
        <p:nvSpPr>
          <p:cNvPr id="3" name="Freeform 3"/>
          <p:cNvSpPr/>
          <p:nvPr/>
        </p:nvSpPr>
        <p:spPr>
          <a:xfrm rot="-5400000" flipV="1">
            <a:off x="13935164" y="6943390"/>
            <a:ext cx="4621402" cy="4629820"/>
          </a:xfrm>
          <a:custGeom>
            <a:avLst/>
            <a:gdLst/>
            <a:ahLst/>
            <a:cxnLst/>
            <a:rect l="l" t="t" r="r" b="b"/>
            <a:pathLst>
              <a:path w="4621402" h="4629820">
                <a:moveTo>
                  <a:pt x="0" y="4629820"/>
                </a:moveTo>
                <a:lnTo>
                  <a:pt x="4621403" y="4629820"/>
                </a:lnTo>
                <a:lnTo>
                  <a:pt x="4621403" y="0"/>
                </a:lnTo>
                <a:lnTo>
                  <a:pt x="0" y="0"/>
                </a:lnTo>
                <a:lnTo>
                  <a:pt x="0" y="462982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sp>
        <p:nvSpPr>
          <p:cNvPr id="4" name="Freeform 4"/>
          <p:cNvSpPr/>
          <p:nvPr/>
        </p:nvSpPr>
        <p:spPr>
          <a:xfrm rot="-5400000" flipV="1">
            <a:off x="-924086" y="-473991"/>
            <a:ext cx="4474500" cy="4482650"/>
          </a:xfrm>
          <a:custGeom>
            <a:avLst/>
            <a:gdLst/>
            <a:ahLst/>
            <a:cxnLst/>
            <a:rect l="l" t="t" r="r" b="b"/>
            <a:pathLst>
              <a:path w="4474500" h="4482650">
                <a:moveTo>
                  <a:pt x="0" y="4482650"/>
                </a:moveTo>
                <a:lnTo>
                  <a:pt x="4474500" y="4482650"/>
                </a:lnTo>
                <a:lnTo>
                  <a:pt x="4474500" y="0"/>
                </a:lnTo>
                <a:lnTo>
                  <a:pt x="0" y="0"/>
                </a:lnTo>
                <a:lnTo>
                  <a:pt x="0" y="448265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sp>
        <p:nvSpPr>
          <p:cNvPr id="5" name="AutoShape 5"/>
          <p:cNvSpPr/>
          <p:nvPr/>
        </p:nvSpPr>
        <p:spPr>
          <a:xfrm>
            <a:off x="-342595" y="5143500"/>
            <a:ext cx="18903370" cy="0"/>
          </a:xfrm>
          <a:prstGeom prst="line">
            <a:avLst/>
          </a:prstGeom>
          <a:ln w="9525" cap="flat">
            <a:solidFill>
              <a:srgbClr val="0B0B0B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pt-BR"/>
          </a:p>
        </p:txBody>
      </p:sp>
      <p:sp>
        <p:nvSpPr>
          <p:cNvPr id="6" name="TextBox 6"/>
          <p:cNvSpPr txBox="1"/>
          <p:nvPr/>
        </p:nvSpPr>
        <p:spPr>
          <a:xfrm>
            <a:off x="6101399" y="5834791"/>
            <a:ext cx="6085202" cy="5225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798"/>
              </a:lnSpc>
              <a:spcBef>
                <a:spcPct val="0"/>
              </a:spcBef>
            </a:pPr>
            <a:r>
              <a:rPr lang="en-US" sz="4469" b="1">
                <a:solidFill>
                  <a:srgbClr val="0B0B0B"/>
                </a:solidFill>
                <a:latin typeface="Nunito Sans Medium"/>
                <a:ea typeface="Nunito Sans Medium"/>
                <a:cs typeface="Nunito Sans Medium"/>
                <a:sym typeface="Nunito Sans Medium"/>
              </a:rPr>
              <a:t>Agradecemos pela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6221268" y="6381126"/>
            <a:ext cx="5845464" cy="56216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4010"/>
              </a:lnSpc>
              <a:spcBef>
                <a:spcPct val="0"/>
              </a:spcBef>
            </a:pPr>
            <a:r>
              <a:rPr lang="en-US" sz="4718" b="1">
                <a:solidFill>
                  <a:srgbClr val="7189C2"/>
                </a:solidFill>
                <a:latin typeface="Nunito Sans Heavy"/>
                <a:ea typeface="Nunito Sans Heavy"/>
                <a:cs typeface="Nunito Sans Heavy"/>
                <a:sym typeface="Nunito Sans Heavy"/>
              </a:rPr>
              <a:t>atenção!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156</TotalTime>
  <Words>350</Words>
  <Application>Microsoft Office PowerPoint</Application>
  <PresentationFormat>Personalizar</PresentationFormat>
  <Paragraphs>60</Paragraphs>
  <Slides>18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6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18</vt:i4>
      </vt:variant>
    </vt:vector>
  </HeadingPairs>
  <TitlesOfParts>
    <vt:vector size="25" baseType="lpstr">
      <vt:lpstr>Nunito Sans</vt:lpstr>
      <vt:lpstr>Arial</vt:lpstr>
      <vt:lpstr>Nunito Sans Medium</vt:lpstr>
      <vt:lpstr>Nunito Sans Bold</vt:lpstr>
      <vt:lpstr>Nunito Sans Heavy</vt:lpstr>
      <vt:lpstr>Calibri</vt:lpstr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Membros do grupo</dc:title>
  <cp:lastModifiedBy>Raphael Clemente Cavalcanti</cp:lastModifiedBy>
  <cp:revision>5</cp:revision>
  <dcterms:created xsi:type="dcterms:W3CDTF">2006-08-16T00:00:00Z</dcterms:created>
  <dcterms:modified xsi:type="dcterms:W3CDTF">2026-06-08T23:21:25Z</dcterms:modified>
  <dc:identifier>DAHL1G08uPc</dc:identifier>
</cp:coreProperties>
</file>