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3" r:id="rId10"/>
    <p:sldId id="264" r:id="rId11"/>
    <p:sldId id="266" r:id="rId12"/>
    <p:sldId id="268" r:id="rId13"/>
    <p:sldId id="269" r:id="rId14"/>
    <p:sldId id="270" r:id="rId15"/>
    <p:sldId id="265" r:id="rId16"/>
  </p:sldIdLst>
  <p:sldSz cx="18288000" cy="10287000"/>
  <p:notesSz cx="6858000" cy="9144000"/>
  <p:embeddedFontLst>
    <p:embeddedFont>
      <p:font typeface="Nunito Sans" pitchFamily="2" charset="0"/>
      <p:regular r:id="rId17"/>
    </p:embeddedFont>
    <p:embeddedFont>
      <p:font typeface="Nunito Sans Bold" charset="0"/>
      <p:regular r:id="rId18"/>
    </p:embeddedFont>
    <p:embeddedFont>
      <p:font typeface="Nunito Sans Heavy" panose="020B0604020202020204" charset="0"/>
      <p:regular r:id="rId19"/>
    </p:embeddedFont>
    <p:embeddedFont>
      <p:font typeface="Nunito Sans Medium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25" d="100"/>
          <a:sy n="25" d="100"/>
        </p:scale>
        <p:origin x="1016" y="5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 flipV="1">
            <a:off x="1031039" y="-2339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2572706"/>
                </a:moveTo>
                <a:lnTo>
                  <a:pt x="2568028" y="2572706"/>
                </a:lnTo>
                <a:lnTo>
                  <a:pt x="2568028" y="0"/>
                </a:lnTo>
                <a:lnTo>
                  <a:pt x="0" y="0"/>
                </a:lnTo>
                <a:lnTo>
                  <a:pt x="0" y="257270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5400000">
            <a:off x="1031039" y="7701746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0"/>
                </a:moveTo>
                <a:lnTo>
                  <a:pt x="2568028" y="0"/>
                </a:lnTo>
                <a:lnTo>
                  <a:pt x="2568028" y="2572706"/>
                </a:lnTo>
                <a:lnTo>
                  <a:pt x="0" y="25727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rot="-5400000">
            <a:off x="1031039" y="2565689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0"/>
                </a:moveTo>
                <a:lnTo>
                  <a:pt x="2568028" y="0"/>
                </a:lnTo>
                <a:lnTo>
                  <a:pt x="2568028" y="2572706"/>
                </a:lnTo>
                <a:lnTo>
                  <a:pt x="0" y="25727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rot="-5400000" flipV="1">
            <a:off x="1031039" y="5133718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2572706"/>
                </a:moveTo>
                <a:lnTo>
                  <a:pt x="2568028" y="2572706"/>
                </a:lnTo>
                <a:lnTo>
                  <a:pt x="2568028" y="0"/>
                </a:lnTo>
                <a:lnTo>
                  <a:pt x="0" y="0"/>
                </a:lnTo>
                <a:lnTo>
                  <a:pt x="0" y="257270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5717023" y="-1625994"/>
            <a:ext cx="4882380" cy="48823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26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2607640" y="-3303634"/>
            <a:ext cx="4882380" cy="488238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" cap="sq">
              <a:solidFill>
                <a:srgbClr val="5170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26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 rot="2369192">
            <a:off x="14977846" y="7483251"/>
            <a:ext cx="4669706" cy="4669706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5170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 rot="2369192">
            <a:off x="11848367" y="8758123"/>
            <a:ext cx="4669706" cy="466970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6868126" y="4804523"/>
            <a:ext cx="6975842" cy="1190541"/>
          </a:xfrm>
          <a:custGeom>
            <a:avLst/>
            <a:gdLst/>
            <a:ahLst/>
            <a:cxnLst/>
            <a:rect l="l" t="t" r="r" b="b"/>
            <a:pathLst>
              <a:path w="6975842" h="1190541">
                <a:moveTo>
                  <a:pt x="0" y="0"/>
                </a:moveTo>
                <a:lnTo>
                  <a:pt x="6975841" y="0"/>
                </a:lnTo>
                <a:lnTo>
                  <a:pt x="6975841" y="1190541"/>
                </a:lnTo>
                <a:lnTo>
                  <a:pt x="0" y="11905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8588" t="-334447" r="-36959" b="-12742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9" name="Freeform 19"/>
          <p:cNvSpPr/>
          <p:nvPr/>
        </p:nvSpPr>
        <p:spPr>
          <a:xfrm>
            <a:off x="4444033" y="4047995"/>
            <a:ext cx="2677324" cy="2372076"/>
          </a:xfrm>
          <a:custGeom>
            <a:avLst/>
            <a:gdLst/>
            <a:ahLst/>
            <a:cxnLst/>
            <a:rect l="l" t="t" r="r" b="b"/>
            <a:pathLst>
              <a:path w="2677324" h="2372076">
                <a:moveTo>
                  <a:pt x="0" y="0"/>
                </a:moveTo>
                <a:lnTo>
                  <a:pt x="2677323" y="0"/>
                </a:lnTo>
                <a:lnTo>
                  <a:pt x="2677323" y="2372076"/>
                </a:lnTo>
                <a:lnTo>
                  <a:pt x="0" y="23720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 flipV="1">
            <a:off x="1031039" y="-2339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2572706"/>
                </a:moveTo>
                <a:lnTo>
                  <a:pt x="2568028" y="2572706"/>
                </a:lnTo>
                <a:lnTo>
                  <a:pt x="2568028" y="0"/>
                </a:lnTo>
                <a:lnTo>
                  <a:pt x="0" y="0"/>
                </a:lnTo>
                <a:lnTo>
                  <a:pt x="0" y="257270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5400000">
            <a:off x="1031039" y="7701746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0"/>
                </a:moveTo>
                <a:lnTo>
                  <a:pt x="2568028" y="0"/>
                </a:lnTo>
                <a:lnTo>
                  <a:pt x="2568028" y="2572706"/>
                </a:lnTo>
                <a:lnTo>
                  <a:pt x="0" y="25727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rot="-5400000">
            <a:off x="1031039" y="2565689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0"/>
                </a:moveTo>
                <a:lnTo>
                  <a:pt x="2568028" y="0"/>
                </a:lnTo>
                <a:lnTo>
                  <a:pt x="2568028" y="2572706"/>
                </a:lnTo>
                <a:lnTo>
                  <a:pt x="0" y="25727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rot="-5400000" flipV="1">
            <a:off x="1031039" y="5133718"/>
            <a:ext cx="2568028" cy="2572706"/>
          </a:xfrm>
          <a:custGeom>
            <a:avLst/>
            <a:gdLst/>
            <a:ahLst/>
            <a:cxnLst/>
            <a:rect l="l" t="t" r="r" b="b"/>
            <a:pathLst>
              <a:path w="2568028" h="2572706">
                <a:moveTo>
                  <a:pt x="0" y="2572706"/>
                </a:moveTo>
                <a:lnTo>
                  <a:pt x="2568028" y="2572706"/>
                </a:lnTo>
                <a:lnTo>
                  <a:pt x="2568028" y="0"/>
                </a:lnTo>
                <a:lnTo>
                  <a:pt x="0" y="0"/>
                </a:lnTo>
                <a:lnTo>
                  <a:pt x="0" y="257270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5717023" y="-1625994"/>
            <a:ext cx="4882380" cy="48823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26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2607640" y="-3303634"/>
            <a:ext cx="4882380" cy="488238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" cap="sq">
              <a:solidFill>
                <a:srgbClr val="5170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26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 rot="2369192">
            <a:off x="14977846" y="7483251"/>
            <a:ext cx="4669706" cy="4669706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5170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 rot="2369192">
            <a:off x="11848367" y="8758123"/>
            <a:ext cx="4669706" cy="466970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923997" y="1863945"/>
            <a:ext cx="6567896" cy="564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10"/>
              </a:lnSpc>
            </a:pPr>
            <a:r>
              <a:rPr lang="en-US" sz="421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Membros</a:t>
            </a: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 do </a:t>
            </a:r>
            <a:r>
              <a:rPr lang="en-US" sz="421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grupo</a:t>
            </a:r>
            <a:endParaRPr lang="en-US" sz="4210" dirty="0">
              <a:solidFill>
                <a:schemeClr val="tx2">
                  <a:lumMod val="60000"/>
                  <a:lumOff val="40000"/>
                </a:schemeClr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3960824" y="2974928"/>
            <a:ext cx="8969407" cy="4831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Artur Ivan Santos </a:t>
            </a:r>
            <a:r>
              <a:rPr lang="en-US" sz="421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Fornagieri</a:t>
            </a: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 </a:t>
            </a:r>
          </a:p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Daniel Alves da Costa </a:t>
            </a:r>
          </a:p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Felipe </a:t>
            </a:r>
            <a:r>
              <a:rPr lang="en-US" sz="421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Anthero</a:t>
            </a: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 Padovani </a:t>
            </a:r>
          </a:p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Gabriel Cardona Buffone Victor </a:t>
            </a:r>
          </a:p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Giovanna Padilha </a:t>
            </a:r>
            <a:r>
              <a:rPr lang="en-US" sz="421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Quintana</a:t>
            </a:r>
            <a:endParaRPr lang="en-US" sz="4210" dirty="0">
              <a:solidFill>
                <a:schemeClr val="tx2">
                  <a:lumMod val="60000"/>
                  <a:lumOff val="40000"/>
                </a:schemeClr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Gustavo </a:t>
            </a:r>
            <a:r>
              <a:rPr lang="en-US" sz="421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Missawa</a:t>
            </a:r>
            <a:endParaRPr lang="en-US" sz="4210" dirty="0">
              <a:solidFill>
                <a:schemeClr val="tx2">
                  <a:lumMod val="60000"/>
                  <a:lumOff val="40000"/>
                </a:schemeClr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Matheus Oliveira </a:t>
            </a:r>
            <a:r>
              <a:rPr lang="en-US" sz="421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Charias</a:t>
            </a: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 </a:t>
            </a:r>
          </a:p>
          <a:p>
            <a:pPr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Raphael Clemente Cavalcanti </a:t>
            </a:r>
          </a:p>
          <a:p>
            <a:pPr marL="0" lvl="0" indent="0" algn="l">
              <a:lnSpc>
                <a:spcPts val="4210"/>
              </a:lnSpc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Thiago Diniz de Oliveira Conceição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07640" y="2974928"/>
            <a:ext cx="3891071" cy="4831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824223979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824150491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824133249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824211810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824144927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824123583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824131896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823210575</a:t>
            </a:r>
          </a:p>
          <a:p>
            <a:pPr marL="909024" lvl="1" indent="-454512" algn="l">
              <a:lnSpc>
                <a:spcPts val="4210"/>
              </a:lnSpc>
              <a:buFont typeface="Arial"/>
              <a:buChar char="•"/>
            </a:pPr>
            <a:r>
              <a:rPr lang="en-US" sz="4210" dirty="0">
                <a:solidFill>
                  <a:schemeClr val="tx2">
                    <a:lumMod val="60000"/>
                    <a:lumOff val="40000"/>
                  </a:schemeClr>
                </a:solidFill>
                <a:latin typeface="Nunito Sans"/>
                <a:ea typeface="Nunito Sans"/>
                <a:cs typeface="Nunito Sans"/>
                <a:sym typeface="Nunito Sans"/>
              </a:rPr>
              <a:t>823164408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2369192">
            <a:off x="15009744" y="7314711"/>
            <a:ext cx="4669706" cy="466970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5170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2369192">
            <a:off x="11880265" y="8589584"/>
            <a:ext cx="4669706" cy="4669706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2369192">
            <a:off x="776162" y="-2093120"/>
            <a:ext cx="4669706" cy="4669706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5170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2369192">
            <a:off x="-2353317" y="-818247"/>
            <a:ext cx="4669706" cy="4669706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857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47505" tIns="47505" rIns="47505" bIns="47505" rtlCol="0" anchor="ctr"/>
            <a:lstStyle/>
            <a:p>
              <a:pPr marL="0" lvl="0" indent="0" algn="ctr">
                <a:lnSpc>
                  <a:spcPts val="264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4167091" y="3628234"/>
            <a:ext cx="9953818" cy="1277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18"/>
              </a:lnSpc>
            </a:pPr>
            <a:r>
              <a:rPr lang="en-US" sz="4918" b="1">
                <a:solidFill>
                  <a:srgbClr val="837E7B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 sua gestão de</a:t>
            </a:r>
          </a:p>
          <a:p>
            <a:pPr marL="0" lvl="0" indent="0" algn="ctr">
              <a:lnSpc>
                <a:spcPts val="4918"/>
              </a:lnSpc>
            </a:pPr>
            <a:r>
              <a:rPr lang="en-US" sz="4918" b="1">
                <a:solidFill>
                  <a:srgbClr val="837E7B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investimento nunca mais será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41056" y="4995579"/>
            <a:ext cx="11205887" cy="1524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761"/>
              </a:lnSpc>
            </a:pPr>
            <a:r>
              <a:rPr lang="en-US" sz="13285" b="1">
                <a:solidFill>
                  <a:srgbClr val="004AAD"/>
                </a:solidFill>
                <a:latin typeface="Nunito Sans Heavy"/>
                <a:ea typeface="Nunito Sans Heavy"/>
                <a:cs typeface="Nunito Sans Heavy"/>
                <a:sym typeface="Nunito Sans Heavy"/>
              </a:rPr>
              <a:t>a mesma!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-1969251" y="-378173"/>
            <a:ext cx="20613547" cy="10649068"/>
            <a:chOff x="0" y="0"/>
            <a:chExt cx="5429082" cy="280469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429082" cy="2804693"/>
            </a:xfrm>
            <a:custGeom>
              <a:avLst/>
              <a:gdLst/>
              <a:ahLst/>
              <a:cxnLst/>
              <a:rect l="l" t="t" r="r" b="b"/>
              <a:pathLst>
                <a:path w="5429082" h="2804693">
                  <a:moveTo>
                    <a:pt x="19154" y="0"/>
                  </a:moveTo>
                  <a:lnTo>
                    <a:pt x="5409928" y="0"/>
                  </a:lnTo>
                  <a:cubicBezTo>
                    <a:pt x="5420506" y="0"/>
                    <a:pt x="5429082" y="8576"/>
                    <a:pt x="5429082" y="19154"/>
                  </a:cubicBezTo>
                  <a:lnTo>
                    <a:pt x="5429082" y="2785539"/>
                  </a:lnTo>
                  <a:cubicBezTo>
                    <a:pt x="5429082" y="2796117"/>
                    <a:pt x="5420506" y="2804693"/>
                    <a:pt x="5409928" y="2804693"/>
                  </a:cubicBezTo>
                  <a:lnTo>
                    <a:pt x="19154" y="2804693"/>
                  </a:lnTo>
                  <a:cubicBezTo>
                    <a:pt x="8576" y="2804693"/>
                    <a:pt x="0" y="2796117"/>
                    <a:pt x="0" y="2785539"/>
                  </a:cubicBezTo>
                  <a:lnTo>
                    <a:pt x="0" y="19154"/>
                  </a:lnTo>
                  <a:cubicBezTo>
                    <a:pt x="0" y="8576"/>
                    <a:pt x="8576" y="0"/>
                    <a:pt x="19154" y="0"/>
                  </a:cubicBezTo>
                  <a:close/>
                </a:path>
              </a:pathLst>
            </a:custGeom>
            <a:solidFill>
              <a:srgbClr val="D9D9D9">
                <a:alpha val="46667"/>
              </a:srgbClr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19050"/>
              <a:ext cx="5429082" cy="2785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2"/>
                </a:lnSpc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770329" y="4584547"/>
            <a:ext cx="9953818" cy="127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18"/>
              </a:lnSpc>
            </a:pPr>
            <a:r>
              <a:rPr lang="en-US" sz="4918" b="1">
                <a:solidFill>
                  <a:srgbClr val="7189C2"/>
                </a:solidFill>
                <a:latin typeface="Nunito Sans Bold"/>
                <a:ea typeface="Nunito Sans Bold"/>
                <a:cs typeface="Nunito Sans Bold"/>
                <a:sym typeface="Nunito Sans Bold"/>
              </a:rPr>
              <a:t>Vamos conhecer nossa interface?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-1037319" y="-1645125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5" y="5944604"/>
                </a:lnTo>
                <a:lnTo>
                  <a:pt x="5933795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V="1">
            <a:off x="13680367" y="5756890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5"/>
                </a:moveTo>
                <a:lnTo>
                  <a:pt x="5933796" y="5944605"/>
                </a:lnTo>
                <a:lnTo>
                  <a:pt x="5933796" y="0"/>
                </a:lnTo>
                <a:lnTo>
                  <a:pt x="0" y="0"/>
                </a:lnTo>
                <a:lnTo>
                  <a:pt x="0" y="594460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0D4FA-D8F4-CA27-A9F0-191F84C1D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485C005-0B77-0318-D857-816F28C6B47C}"/>
              </a:ext>
            </a:extLst>
          </p:cNvPr>
          <p:cNvSpPr/>
          <p:nvPr/>
        </p:nvSpPr>
        <p:spPr>
          <a:xfrm flipV="1">
            <a:off x="12723016" y="-17270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AED580B-A467-D288-F87B-AA2E701A931C}"/>
              </a:ext>
            </a:extLst>
          </p:cNvPr>
          <p:cNvSpPr/>
          <p:nvPr/>
        </p:nvSpPr>
        <p:spPr>
          <a:xfrm flipV="1">
            <a:off x="-202895" y="6665749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1" y="5108660"/>
                </a:lnTo>
                <a:lnTo>
                  <a:pt x="5099371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04876D5-DB19-FAB4-D05E-0FBFE9B3E002}"/>
              </a:ext>
            </a:extLst>
          </p:cNvPr>
          <p:cNvSpPr/>
          <p:nvPr/>
        </p:nvSpPr>
        <p:spPr>
          <a:xfrm>
            <a:off x="2533668" y="6665749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5EBCB6E4-00B7-9341-933C-2DFA72C156FA}"/>
              </a:ext>
            </a:extLst>
          </p:cNvPr>
          <p:cNvGrpSpPr/>
          <p:nvPr/>
        </p:nvGrpSpPr>
        <p:grpSpPr>
          <a:xfrm>
            <a:off x="-730068" y="-2312111"/>
            <a:ext cx="4526045" cy="4526045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BDCE330-165C-7181-994F-9CBD16D6BCF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9C4AAE9C-D556-1D6D-5810-7FF5C9A36305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652EBCE-F116-50E5-0093-52784AB09214}"/>
              </a:ext>
            </a:extLst>
          </p:cNvPr>
          <p:cNvGrpSpPr/>
          <p:nvPr/>
        </p:nvGrpSpPr>
        <p:grpSpPr>
          <a:xfrm>
            <a:off x="-2272028" y="881713"/>
            <a:ext cx="4526045" cy="4526045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915718E7-155E-0085-D91F-6B50B6DC8FB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64D850E-557A-DDA7-732A-440DCEB7BBD8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0A00E6F5-0ADE-3CC6-559D-F45F06FC70F5}"/>
              </a:ext>
            </a:extLst>
          </p:cNvPr>
          <p:cNvSpPr/>
          <p:nvPr/>
        </p:nvSpPr>
        <p:spPr>
          <a:xfrm>
            <a:off x="11840783" y="1507138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833F99C-FC6F-B566-C4C0-4CC1C14BE126}"/>
              </a:ext>
            </a:extLst>
          </p:cNvPr>
          <p:cNvSpPr txBox="1"/>
          <p:nvPr/>
        </p:nvSpPr>
        <p:spPr>
          <a:xfrm>
            <a:off x="631881" y="867376"/>
            <a:ext cx="8529191" cy="1105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06"/>
              </a:lnSpc>
              <a:spcBef>
                <a:spcPct val="0"/>
              </a:spcBef>
            </a:pP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Acesse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sua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conta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ou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crie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uma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!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28F7DF4-860B-C73B-C2E7-3A7FCDF99607}"/>
              </a:ext>
            </a:extLst>
          </p:cNvPr>
          <p:cNvSpPr txBox="1"/>
          <p:nvPr/>
        </p:nvSpPr>
        <p:spPr>
          <a:xfrm rot="5400000">
            <a:off x="10484720" y="9275809"/>
            <a:ext cx="3473054" cy="43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 dirty="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LOGIN</a:t>
            </a:r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CB9DF16A-3E76-28BA-2CD7-2EB22E789C76}"/>
              </a:ext>
            </a:extLst>
          </p:cNvPr>
          <p:cNvSpPr/>
          <p:nvPr/>
        </p:nvSpPr>
        <p:spPr>
          <a:xfrm rot="5400000">
            <a:off x="11714940" y="6587095"/>
            <a:ext cx="1221218" cy="1081985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5"/>
                </a:lnTo>
                <a:lnTo>
                  <a:pt x="0" y="10819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C2681D09-D93E-4427-AB12-E0CBED8843CE}"/>
              </a:ext>
            </a:extLst>
          </p:cNvPr>
          <p:cNvSpPr/>
          <p:nvPr/>
        </p:nvSpPr>
        <p:spPr>
          <a:xfrm>
            <a:off x="13070400" y="4039522"/>
            <a:ext cx="2753480" cy="2753480"/>
          </a:xfrm>
          <a:custGeom>
            <a:avLst/>
            <a:gdLst/>
            <a:ahLst/>
            <a:cxnLst/>
            <a:rect l="l" t="t" r="r" b="b"/>
            <a:pathLst>
              <a:path w="2753480" h="2753480">
                <a:moveTo>
                  <a:pt x="0" y="0"/>
                </a:moveTo>
                <a:lnTo>
                  <a:pt x="2753480" y="0"/>
                </a:lnTo>
                <a:lnTo>
                  <a:pt x="2753480" y="2753480"/>
                </a:lnTo>
                <a:lnTo>
                  <a:pt x="0" y="27534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21BE6CCD-FFAF-58C4-67A3-4643980A4E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2899" y="1948904"/>
            <a:ext cx="5904026" cy="761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4536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2723016" y="-17270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flipV="1">
            <a:off x="-202895" y="6665749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1" y="5108660"/>
                </a:lnTo>
                <a:lnTo>
                  <a:pt x="5099371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2533668" y="6665749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-730068" y="-2312111"/>
            <a:ext cx="4526045" cy="4526045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272028" y="881713"/>
            <a:ext cx="4526045" cy="452604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840783" y="1507138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631881" y="867376"/>
            <a:ext cx="8529191" cy="1105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06"/>
              </a:lnSpc>
              <a:spcBef>
                <a:spcPct val="0"/>
              </a:spcBef>
            </a:pP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Todas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as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informações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da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sua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carteira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em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um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único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painel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!</a:t>
            </a:r>
          </a:p>
        </p:txBody>
      </p:sp>
      <p:sp>
        <p:nvSpPr>
          <p:cNvPr id="13" name="TextBox 13"/>
          <p:cNvSpPr txBox="1"/>
          <p:nvPr/>
        </p:nvSpPr>
        <p:spPr>
          <a:xfrm rot="5400000">
            <a:off x="14200408" y="7466072"/>
            <a:ext cx="3473054" cy="43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DASHBOARD</a:t>
            </a:r>
          </a:p>
        </p:txBody>
      </p:sp>
      <p:sp>
        <p:nvSpPr>
          <p:cNvPr id="14" name="Freeform 14"/>
          <p:cNvSpPr/>
          <p:nvPr/>
        </p:nvSpPr>
        <p:spPr>
          <a:xfrm rot="5400000">
            <a:off x="15430628" y="4777358"/>
            <a:ext cx="1221218" cy="1081985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5"/>
                </a:lnTo>
                <a:lnTo>
                  <a:pt x="0" y="10819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14313174" y="2536822"/>
            <a:ext cx="2753480" cy="2753480"/>
          </a:xfrm>
          <a:custGeom>
            <a:avLst/>
            <a:gdLst/>
            <a:ahLst/>
            <a:cxnLst/>
            <a:rect l="l" t="t" r="r" b="b"/>
            <a:pathLst>
              <a:path w="2753480" h="2753480">
                <a:moveTo>
                  <a:pt x="0" y="0"/>
                </a:moveTo>
                <a:lnTo>
                  <a:pt x="2753480" y="0"/>
                </a:lnTo>
                <a:lnTo>
                  <a:pt x="2753480" y="2753480"/>
                </a:lnTo>
                <a:lnTo>
                  <a:pt x="0" y="27534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6" name="Freeform 16"/>
          <p:cNvSpPr/>
          <p:nvPr/>
        </p:nvSpPr>
        <p:spPr>
          <a:xfrm>
            <a:off x="2533668" y="2297672"/>
            <a:ext cx="12810670" cy="7347239"/>
          </a:xfrm>
          <a:custGeom>
            <a:avLst/>
            <a:gdLst/>
            <a:ahLst/>
            <a:cxnLst/>
            <a:rect l="l" t="t" r="r" b="b"/>
            <a:pathLst>
              <a:path w="12810670" h="7347239">
                <a:moveTo>
                  <a:pt x="0" y="0"/>
                </a:moveTo>
                <a:lnTo>
                  <a:pt x="12810670" y="0"/>
                </a:lnTo>
                <a:lnTo>
                  <a:pt x="12810670" y="7347239"/>
                </a:lnTo>
                <a:lnTo>
                  <a:pt x="0" y="73472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895" t="-10218" r="-4631" b="-10929"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2875416" y="-15746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flipV="1">
            <a:off x="-50495" y="6818149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1" y="5108660"/>
                </a:lnTo>
                <a:lnTo>
                  <a:pt x="5099371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2686068" y="6818149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-757358" y="-2401518"/>
            <a:ext cx="4526045" cy="4526045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299318" y="792306"/>
            <a:ext cx="4526045" cy="452604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840783" y="2297672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604590" y="777969"/>
            <a:ext cx="8529191" cy="1105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06"/>
              </a:lnSpc>
              <a:spcBef>
                <a:spcPct val="0"/>
              </a:spcBef>
            </a:pP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Controle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seus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investimentos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com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praticidade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e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segurança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!</a:t>
            </a:r>
          </a:p>
        </p:txBody>
      </p:sp>
      <p:sp>
        <p:nvSpPr>
          <p:cNvPr id="13" name="TextBox 13"/>
          <p:cNvSpPr txBox="1"/>
          <p:nvPr/>
        </p:nvSpPr>
        <p:spPr>
          <a:xfrm rot="5400000">
            <a:off x="14200408" y="8256606"/>
            <a:ext cx="3473054" cy="43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CARTEIRA</a:t>
            </a:r>
          </a:p>
        </p:txBody>
      </p:sp>
      <p:sp>
        <p:nvSpPr>
          <p:cNvPr id="14" name="Freeform 14"/>
          <p:cNvSpPr/>
          <p:nvPr/>
        </p:nvSpPr>
        <p:spPr>
          <a:xfrm>
            <a:off x="2429386" y="2124526"/>
            <a:ext cx="12739583" cy="7398063"/>
          </a:xfrm>
          <a:custGeom>
            <a:avLst/>
            <a:gdLst/>
            <a:ahLst/>
            <a:cxnLst/>
            <a:rect l="l" t="t" r="r" b="b"/>
            <a:pathLst>
              <a:path w="12739583" h="7398063">
                <a:moveTo>
                  <a:pt x="0" y="0"/>
                </a:moveTo>
                <a:lnTo>
                  <a:pt x="12739583" y="0"/>
                </a:lnTo>
                <a:lnTo>
                  <a:pt x="12739583" y="7398063"/>
                </a:lnTo>
                <a:lnTo>
                  <a:pt x="0" y="73980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817" t="-9638" r="-5272" b="-1062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 rot="5400000">
            <a:off x="15430628" y="5567892"/>
            <a:ext cx="1221218" cy="1081985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5"/>
                </a:lnTo>
                <a:lnTo>
                  <a:pt x="0" y="10819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3027816" y="-14222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flipV="1">
            <a:off x="101905" y="6970549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1" y="5108660"/>
                </a:lnTo>
                <a:lnTo>
                  <a:pt x="5099371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2838468" y="6970549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-747140" y="-2575920"/>
            <a:ext cx="4526045" cy="4526045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289100" y="617904"/>
            <a:ext cx="4526045" cy="452604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709948" y="1727063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39" y="0"/>
                </a:lnTo>
                <a:lnTo>
                  <a:pt x="5010339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614809" y="603567"/>
            <a:ext cx="8529191" cy="1631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06"/>
              </a:lnSpc>
              <a:spcBef>
                <a:spcPct val="0"/>
              </a:spcBef>
            </a:pP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Histórico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completo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para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acompanhar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cada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operação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!</a:t>
            </a:r>
          </a:p>
          <a:p>
            <a:pPr marL="0" lvl="0" indent="0" algn="l">
              <a:lnSpc>
                <a:spcPts val="4106"/>
              </a:lnSpc>
              <a:spcBef>
                <a:spcPct val="0"/>
              </a:spcBef>
            </a:pPr>
            <a:endParaRPr lang="en-US" sz="4831" b="1" dirty="0">
              <a:solidFill>
                <a:srgbClr val="7189C2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13" name="TextBox 13"/>
          <p:cNvSpPr txBox="1"/>
          <p:nvPr/>
        </p:nvSpPr>
        <p:spPr>
          <a:xfrm rot="5400000">
            <a:off x="14069571" y="7685998"/>
            <a:ext cx="3473054" cy="43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HISTÓRICO</a:t>
            </a:r>
          </a:p>
        </p:txBody>
      </p:sp>
      <p:sp>
        <p:nvSpPr>
          <p:cNvPr id="14" name="Freeform 14"/>
          <p:cNvSpPr/>
          <p:nvPr/>
        </p:nvSpPr>
        <p:spPr>
          <a:xfrm rot="5400000">
            <a:off x="15299792" y="4997283"/>
            <a:ext cx="1221218" cy="1081985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4"/>
                </a:lnTo>
                <a:lnTo>
                  <a:pt x="0" y="10819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2379126" y="2080520"/>
            <a:ext cx="12789843" cy="7401031"/>
          </a:xfrm>
          <a:custGeom>
            <a:avLst/>
            <a:gdLst/>
            <a:ahLst/>
            <a:cxnLst/>
            <a:rect l="l" t="t" r="r" b="b"/>
            <a:pathLst>
              <a:path w="12789843" h="7401031">
                <a:moveTo>
                  <a:pt x="0" y="0"/>
                </a:moveTo>
                <a:lnTo>
                  <a:pt x="12789843" y="0"/>
                </a:lnTo>
                <a:lnTo>
                  <a:pt x="12789843" y="7401031"/>
                </a:lnTo>
                <a:lnTo>
                  <a:pt x="0" y="74010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520" t="-9277" r="-4695" b="-10452"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3180216" y="-12698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flipV="1">
            <a:off x="0" y="7041434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2" y="5108660"/>
                </a:lnTo>
                <a:lnTo>
                  <a:pt x="5099372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2736563" y="7041434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-952137" y="-2539392"/>
            <a:ext cx="4526045" cy="4526045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494097" y="654433"/>
            <a:ext cx="4526045" cy="452604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862348" y="1879463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39" y="0"/>
                </a:lnTo>
                <a:lnTo>
                  <a:pt x="5010339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409812" y="640095"/>
            <a:ext cx="9337426" cy="1631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06"/>
              </a:lnSpc>
              <a:spcBef>
                <a:spcPct val="0"/>
              </a:spcBef>
            </a:pP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Recursos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administrativos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para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gerenciamento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de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usuários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!</a:t>
            </a:r>
          </a:p>
          <a:p>
            <a:pPr marL="0" lvl="0" indent="0" algn="l">
              <a:lnSpc>
                <a:spcPts val="4106"/>
              </a:lnSpc>
              <a:spcBef>
                <a:spcPct val="0"/>
              </a:spcBef>
            </a:pPr>
            <a:endParaRPr lang="en-US" sz="4831" b="1" dirty="0">
              <a:solidFill>
                <a:srgbClr val="7189C2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13" name="TextBox 13"/>
          <p:cNvSpPr txBox="1"/>
          <p:nvPr/>
        </p:nvSpPr>
        <p:spPr>
          <a:xfrm rot="5400000">
            <a:off x="14221971" y="7838398"/>
            <a:ext cx="3473054" cy="43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USUÁRIOS</a:t>
            </a:r>
          </a:p>
        </p:txBody>
      </p:sp>
      <p:sp>
        <p:nvSpPr>
          <p:cNvPr id="14" name="Freeform 14"/>
          <p:cNvSpPr/>
          <p:nvPr/>
        </p:nvSpPr>
        <p:spPr>
          <a:xfrm rot="5400000">
            <a:off x="15452192" y="5149683"/>
            <a:ext cx="1221218" cy="1081985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4"/>
                </a:lnTo>
                <a:lnTo>
                  <a:pt x="0" y="10819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2549686" y="2034743"/>
            <a:ext cx="12671948" cy="7364792"/>
          </a:xfrm>
          <a:custGeom>
            <a:avLst/>
            <a:gdLst/>
            <a:ahLst/>
            <a:cxnLst/>
            <a:rect l="l" t="t" r="r" b="b"/>
            <a:pathLst>
              <a:path w="12671948" h="7364792">
                <a:moveTo>
                  <a:pt x="0" y="0"/>
                </a:moveTo>
                <a:lnTo>
                  <a:pt x="12671947" y="0"/>
                </a:lnTo>
                <a:lnTo>
                  <a:pt x="12671947" y="7364793"/>
                </a:lnTo>
                <a:lnTo>
                  <a:pt x="0" y="73647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109" t="-9289" r="-4721" b="-10592"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3332616" y="-11174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flipV="1">
            <a:off x="152400" y="7193834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2" y="5108660"/>
                </a:lnTo>
                <a:lnTo>
                  <a:pt x="5099372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2888963" y="7193834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-799737" y="-2386992"/>
            <a:ext cx="4526045" cy="4526045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341697" y="806833"/>
            <a:ext cx="4526045" cy="452604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840783" y="2235973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562212" y="792495"/>
            <a:ext cx="11850167" cy="1105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06"/>
              </a:lnSpc>
              <a:spcBef>
                <a:spcPct val="0"/>
              </a:spcBef>
            </a:pP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Acompanhe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ações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e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criptomoedas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atualizadas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 </a:t>
            </a:r>
            <a:r>
              <a:rPr lang="en-US" sz="4831" b="1" dirty="0" err="1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automaticamente</a:t>
            </a:r>
            <a:r>
              <a:rPr lang="en-US" sz="4831" b="1" dirty="0">
                <a:solidFill>
                  <a:srgbClr val="7189C2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!</a:t>
            </a:r>
          </a:p>
        </p:txBody>
      </p:sp>
      <p:sp>
        <p:nvSpPr>
          <p:cNvPr id="13" name="TextBox 13"/>
          <p:cNvSpPr txBox="1"/>
          <p:nvPr/>
        </p:nvSpPr>
        <p:spPr>
          <a:xfrm rot="5400000">
            <a:off x="14200408" y="8194908"/>
            <a:ext cx="3473054" cy="43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MERCADO</a:t>
            </a:r>
          </a:p>
        </p:txBody>
      </p:sp>
      <p:sp>
        <p:nvSpPr>
          <p:cNvPr id="14" name="Freeform 14"/>
          <p:cNvSpPr/>
          <p:nvPr/>
        </p:nvSpPr>
        <p:spPr>
          <a:xfrm rot="5400000">
            <a:off x="15430628" y="5506193"/>
            <a:ext cx="1221218" cy="1081985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4"/>
                </a:lnTo>
                <a:lnTo>
                  <a:pt x="0" y="10819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5" name="Freeform 15"/>
          <p:cNvSpPr/>
          <p:nvPr/>
        </p:nvSpPr>
        <p:spPr>
          <a:xfrm>
            <a:off x="2031948" y="2034743"/>
            <a:ext cx="13221227" cy="7689484"/>
          </a:xfrm>
          <a:custGeom>
            <a:avLst/>
            <a:gdLst/>
            <a:ahLst/>
            <a:cxnLst/>
            <a:rect l="l" t="t" r="r" b="b"/>
            <a:pathLst>
              <a:path w="13221227" h="7689484">
                <a:moveTo>
                  <a:pt x="0" y="0"/>
                </a:moveTo>
                <a:lnTo>
                  <a:pt x="13221227" y="0"/>
                </a:lnTo>
                <a:lnTo>
                  <a:pt x="13221227" y="7689485"/>
                </a:lnTo>
                <a:lnTo>
                  <a:pt x="0" y="76894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30" t="-9266" r="-4713" b="-10326"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458A0-1AC2-CFA4-D950-8EF327911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172C3C1-4BAE-F12E-A9CC-CD32EAA400E2}"/>
              </a:ext>
            </a:extLst>
          </p:cNvPr>
          <p:cNvSpPr/>
          <p:nvPr/>
        </p:nvSpPr>
        <p:spPr>
          <a:xfrm flipV="1">
            <a:off x="13332616" y="-11174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8AB58AB-905D-F85A-B356-8E56E3A974E2}"/>
              </a:ext>
            </a:extLst>
          </p:cNvPr>
          <p:cNvSpPr/>
          <p:nvPr/>
        </p:nvSpPr>
        <p:spPr>
          <a:xfrm flipV="1">
            <a:off x="152400" y="7193834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2" y="5108660"/>
                </a:lnTo>
                <a:lnTo>
                  <a:pt x="5099372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223268B2-55F6-E5A3-A7E9-61B44165105C}"/>
              </a:ext>
            </a:extLst>
          </p:cNvPr>
          <p:cNvSpPr/>
          <p:nvPr/>
        </p:nvSpPr>
        <p:spPr>
          <a:xfrm>
            <a:off x="2888963" y="7193834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6F618D96-E59C-8A9D-FA29-13E9FC9B9153}"/>
              </a:ext>
            </a:extLst>
          </p:cNvPr>
          <p:cNvGrpSpPr/>
          <p:nvPr/>
        </p:nvGrpSpPr>
        <p:grpSpPr>
          <a:xfrm>
            <a:off x="-799737" y="-2386992"/>
            <a:ext cx="4526045" cy="4526045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E0802F1-A78F-BC9B-C374-35547B8EB32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1F6820E-6E27-2FAC-1D63-017035836C0F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B7936771-46F9-7A11-D393-55DDDF6F5E2C}"/>
              </a:ext>
            </a:extLst>
          </p:cNvPr>
          <p:cNvGrpSpPr/>
          <p:nvPr/>
        </p:nvGrpSpPr>
        <p:grpSpPr>
          <a:xfrm>
            <a:off x="-2341697" y="806833"/>
            <a:ext cx="4526045" cy="4526045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DF53C89-C59F-C308-FF15-4C185AC962C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02EBF807-7CFD-2461-5073-FD42CEFF64E0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D0DE4A0C-9468-1B86-4A3F-A00D51687449}"/>
              </a:ext>
            </a:extLst>
          </p:cNvPr>
          <p:cNvSpPr/>
          <p:nvPr/>
        </p:nvSpPr>
        <p:spPr>
          <a:xfrm>
            <a:off x="11840783" y="2235973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C7D44AE-7FF2-A5DB-CC80-A7B700A1EF36}"/>
              </a:ext>
            </a:extLst>
          </p:cNvPr>
          <p:cNvSpPr txBox="1"/>
          <p:nvPr/>
        </p:nvSpPr>
        <p:spPr>
          <a:xfrm>
            <a:off x="1591330" y="806833"/>
            <a:ext cx="3473054" cy="43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 dirty="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MERCADO</a:t>
            </a:r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E9C9133C-773F-7AC8-68BF-D6059BCF4719}"/>
              </a:ext>
            </a:extLst>
          </p:cNvPr>
          <p:cNvSpPr/>
          <p:nvPr/>
        </p:nvSpPr>
        <p:spPr>
          <a:xfrm>
            <a:off x="370112" y="265840"/>
            <a:ext cx="1221218" cy="1081985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4"/>
                </a:lnTo>
                <a:lnTo>
                  <a:pt x="0" y="10819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11ED9FE-9729-A4D1-8CF4-F91B80E4BCD2}"/>
              </a:ext>
            </a:extLst>
          </p:cNvPr>
          <p:cNvSpPr txBox="1"/>
          <p:nvPr/>
        </p:nvSpPr>
        <p:spPr>
          <a:xfrm>
            <a:off x="2861749" y="3132676"/>
            <a:ext cx="1081767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O sistema utiliza integrações com APIs externas para obtenção de dados de mercado. Para ativos da bolsa brasileira, foi utilizada a </a:t>
            </a:r>
            <a:r>
              <a:rPr lang="pt-BR" sz="2800" b="1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API BRAPI</a:t>
            </a:r>
            <a:r>
              <a:rPr lang="pt-BR" sz="2800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, responsável </a:t>
            </a:r>
            <a:r>
              <a:rPr lang="pt-BR" sz="2800" b="1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por fornecer informações de ações e </a:t>
            </a:r>
            <a:r>
              <a:rPr lang="pt-BR" sz="2800" b="1" dirty="0" err="1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ETFs</a:t>
            </a:r>
            <a:r>
              <a:rPr lang="pt-BR" sz="2800" b="1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 da B3</a:t>
            </a:r>
            <a:r>
              <a:rPr lang="pt-BR" sz="2800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. Para criptomoedas, foram utilizadas rotas da API da </a:t>
            </a:r>
            <a:r>
              <a:rPr lang="pt-BR" sz="2800" b="1" dirty="0" err="1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Binance</a:t>
            </a:r>
            <a:r>
              <a:rPr lang="pt-BR" sz="2800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, tanto para consulta de estatísticas completas das últimas </a:t>
            </a:r>
            <a:r>
              <a:rPr lang="pt-BR" sz="2800" b="1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24 horas </a:t>
            </a:r>
            <a:r>
              <a:rPr lang="pt-BR" sz="2800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quanto para obtenção da </a:t>
            </a:r>
            <a:r>
              <a:rPr lang="pt-BR" sz="2800" b="1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cotação atual dos ativos</a:t>
            </a:r>
            <a:r>
              <a:rPr lang="pt-BR" sz="2800" dirty="0">
                <a:solidFill>
                  <a:schemeClr val="tx2">
                    <a:lumMod val="75000"/>
                  </a:schemeClr>
                </a:solidFill>
                <a:latin typeface="Nunito Sans" pitchFamily="2" charset="0"/>
              </a:rPr>
              <a:t>. Essas integrações permitem que o catálogo de investimentos permaneça atualizado sem necessidade de cadastro manual dos ativos.</a:t>
            </a:r>
          </a:p>
        </p:txBody>
      </p:sp>
    </p:spTree>
    <p:extLst>
      <p:ext uri="{BB962C8B-B14F-4D97-AF65-F5344CB8AC3E}">
        <p14:creationId xmlns:p14="http://schemas.microsoft.com/office/powerpoint/2010/main" val="42429388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3EEEA4-AA25-49AB-1B5D-DAA8B3C99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C9600A3-DBD3-FD37-E107-1C8FE98E0795}"/>
              </a:ext>
            </a:extLst>
          </p:cNvPr>
          <p:cNvSpPr/>
          <p:nvPr/>
        </p:nvSpPr>
        <p:spPr>
          <a:xfrm flipV="1">
            <a:off x="13332616" y="-11174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2AAEF68-8435-7536-9DA9-DAEBC8378B13}"/>
              </a:ext>
            </a:extLst>
          </p:cNvPr>
          <p:cNvSpPr/>
          <p:nvPr/>
        </p:nvSpPr>
        <p:spPr>
          <a:xfrm flipV="1">
            <a:off x="152400" y="7193834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2" y="5108660"/>
                </a:lnTo>
                <a:lnTo>
                  <a:pt x="5099372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3D3804-FAE1-5E55-6E8A-8E9B8BCAC0DD}"/>
              </a:ext>
            </a:extLst>
          </p:cNvPr>
          <p:cNvSpPr/>
          <p:nvPr/>
        </p:nvSpPr>
        <p:spPr>
          <a:xfrm>
            <a:off x="2888963" y="7193834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A8A71CB9-0F4F-0DE4-92EC-02481CEA2796}"/>
              </a:ext>
            </a:extLst>
          </p:cNvPr>
          <p:cNvGrpSpPr/>
          <p:nvPr/>
        </p:nvGrpSpPr>
        <p:grpSpPr>
          <a:xfrm>
            <a:off x="-799737" y="-2386992"/>
            <a:ext cx="4526045" cy="4526045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6288E74-E532-FEE0-C82E-9193BC76242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420A08FD-CBA8-396C-EC7E-95465F040D0B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A1742E64-D879-0C73-96FB-F53EEF265200}"/>
              </a:ext>
            </a:extLst>
          </p:cNvPr>
          <p:cNvGrpSpPr/>
          <p:nvPr/>
        </p:nvGrpSpPr>
        <p:grpSpPr>
          <a:xfrm>
            <a:off x="-2341697" y="806833"/>
            <a:ext cx="4526045" cy="4526045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D97EA975-E3B2-E636-CBA1-75DED4DF0B7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3A022715-84CC-951D-59D1-F828C51250E2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1AEFC036-88DB-4653-4B69-0A6A5742617E}"/>
              </a:ext>
            </a:extLst>
          </p:cNvPr>
          <p:cNvSpPr/>
          <p:nvPr/>
        </p:nvSpPr>
        <p:spPr>
          <a:xfrm>
            <a:off x="11840783" y="2235973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007F6BC-4434-9538-DAC8-70AFD7099E52}"/>
              </a:ext>
            </a:extLst>
          </p:cNvPr>
          <p:cNvSpPr txBox="1"/>
          <p:nvPr/>
        </p:nvSpPr>
        <p:spPr>
          <a:xfrm>
            <a:off x="1591330" y="806833"/>
            <a:ext cx="4733270" cy="8188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 dirty="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MELHORIAS</a:t>
            </a:r>
          </a:p>
          <a:p>
            <a:pPr marL="0" lvl="0" indent="0" algn="l">
              <a:lnSpc>
                <a:spcPts val="3027"/>
              </a:lnSpc>
            </a:pPr>
            <a:r>
              <a:rPr lang="en-US" sz="3784" spc="140" dirty="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	             ADMIN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773B5FD-511D-EA7C-8299-B1D40ACCF5EA}"/>
              </a:ext>
            </a:extLst>
          </p:cNvPr>
          <p:cNvSpPr txBox="1"/>
          <p:nvPr/>
        </p:nvSpPr>
        <p:spPr>
          <a:xfrm>
            <a:off x="2861749" y="3132676"/>
            <a:ext cx="108176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Dashboard administrativo com métricas do sistema;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Controle avançado de permissões e perfis;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Auditoria e histórico de ações dos usuários;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Relatórios gerenciais em PDF e Excel;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Gerenciamento administrativo dos ativos importados pela API.</a:t>
            </a:r>
            <a:endParaRPr lang="pt-BR" sz="2800" dirty="0">
              <a:solidFill>
                <a:schemeClr val="tx2">
                  <a:lumMod val="75000"/>
                </a:schemeClr>
              </a:solidFill>
              <a:latin typeface="Nunito Sans" pitchFamily="2" charset="0"/>
            </a:endParaRPr>
          </a:p>
        </p:txBody>
      </p:sp>
      <p:sp>
        <p:nvSpPr>
          <p:cNvPr id="12" name="Freeform 14">
            <a:extLst>
              <a:ext uri="{FF2B5EF4-FFF2-40B4-BE49-F238E27FC236}">
                <a16:creationId xmlns:a16="http://schemas.microsoft.com/office/drawing/2014/main" id="{D52FCCD9-96BE-DE20-5046-6B398F008295}"/>
              </a:ext>
            </a:extLst>
          </p:cNvPr>
          <p:cNvSpPr/>
          <p:nvPr/>
        </p:nvSpPr>
        <p:spPr>
          <a:xfrm>
            <a:off x="6177102" y="2589170"/>
            <a:ext cx="5933796" cy="5108660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4"/>
                </a:lnTo>
                <a:lnTo>
                  <a:pt x="0" y="10819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9000"/>
            </a:blip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71735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52918-8E80-9317-5D06-630320092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3132CA6-FBA1-BBBB-48B8-B279D5B8F7B7}"/>
              </a:ext>
            </a:extLst>
          </p:cNvPr>
          <p:cNvSpPr/>
          <p:nvPr/>
        </p:nvSpPr>
        <p:spPr>
          <a:xfrm flipV="1">
            <a:off x="13332616" y="-11174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25FA9F8-B7B5-7B66-B023-3118E83A164A}"/>
              </a:ext>
            </a:extLst>
          </p:cNvPr>
          <p:cNvSpPr/>
          <p:nvPr/>
        </p:nvSpPr>
        <p:spPr>
          <a:xfrm flipV="1">
            <a:off x="152400" y="7193834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2" y="5108660"/>
                </a:lnTo>
                <a:lnTo>
                  <a:pt x="5099372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39988F9-CD30-C7B2-5386-2A5201489E1B}"/>
              </a:ext>
            </a:extLst>
          </p:cNvPr>
          <p:cNvSpPr/>
          <p:nvPr/>
        </p:nvSpPr>
        <p:spPr>
          <a:xfrm>
            <a:off x="2888963" y="7193834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4C6369B9-808C-86F3-28F4-174D01C25808}"/>
              </a:ext>
            </a:extLst>
          </p:cNvPr>
          <p:cNvGrpSpPr/>
          <p:nvPr/>
        </p:nvGrpSpPr>
        <p:grpSpPr>
          <a:xfrm>
            <a:off x="-799737" y="-2386992"/>
            <a:ext cx="4526045" cy="4526045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07126AC-8E41-8975-2270-1083BC6A72E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B95C4F8-474E-8101-56D9-D6172777FC2B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5482DB3-4EF5-B3DF-F055-E7879F312314}"/>
              </a:ext>
            </a:extLst>
          </p:cNvPr>
          <p:cNvGrpSpPr/>
          <p:nvPr/>
        </p:nvGrpSpPr>
        <p:grpSpPr>
          <a:xfrm>
            <a:off x="-2341697" y="806833"/>
            <a:ext cx="4526045" cy="4526045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428B9A9-DC2A-57F7-F032-40E12490F0F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1A00067-27AB-113A-1BD0-FBC1C99C9D7F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FFEC07DD-70C8-35FB-C478-DCD1057AFC8E}"/>
              </a:ext>
            </a:extLst>
          </p:cNvPr>
          <p:cNvSpPr/>
          <p:nvPr/>
        </p:nvSpPr>
        <p:spPr>
          <a:xfrm>
            <a:off x="11840783" y="2235973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78A445A-1164-6F79-625F-3F28073CFF39}"/>
              </a:ext>
            </a:extLst>
          </p:cNvPr>
          <p:cNvSpPr txBox="1"/>
          <p:nvPr/>
        </p:nvSpPr>
        <p:spPr>
          <a:xfrm>
            <a:off x="1591330" y="806833"/>
            <a:ext cx="4733270" cy="8188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 dirty="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MELHORIAS</a:t>
            </a:r>
          </a:p>
          <a:p>
            <a:pPr marL="0" lvl="0" indent="0" algn="l">
              <a:lnSpc>
                <a:spcPts val="3027"/>
              </a:lnSpc>
            </a:pPr>
            <a:r>
              <a:rPr lang="en-US" sz="3784" spc="140" dirty="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	             USER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AB68A265-F559-8862-D5BB-71070AEAF2B6}"/>
              </a:ext>
            </a:extLst>
          </p:cNvPr>
          <p:cNvSpPr txBox="1"/>
          <p:nvPr/>
        </p:nvSpPr>
        <p:spPr>
          <a:xfrm>
            <a:off x="2861749" y="3132676"/>
            <a:ext cx="108176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Lista de ativos favoritos e </a:t>
            </a:r>
            <a:r>
              <a:rPr lang="pt-BR" sz="2800" dirty="0" err="1"/>
              <a:t>watchlist</a:t>
            </a:r>
            <a:r>
              <a:rPr lang="pt-BR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Alertas personalizados de preço;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Gráficos de desempenho da carteira;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Indicadores de rentabilidade e lucro/prejuízo;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Personalização do dashboard.</a:t>
            </a:r>
            <a:endParaRPr lang="pt-BR" sz="2800" dirty="0">
              <a:solidFill>
                <a:schemeClr val="tx2">
                  <a:lumMod val="75000"/>
                </a:schemeClr>
              </a:solidFill>
              <a:latin typeface="Nunito Sans" pitchFamily="2" charset="0"/>
            </a:endParaRPr>
          </a:p>
        </p:txBody>
      </p:sp>
      <p:sp>
        <p:nvSpPr>
          <p:cNvPr id="12" name="Freeform 14">
            <a:extLst>
              <a:ext uri="{FF2B5EF4-FFF2-40B4-BE49-F238E27FC236}">
                <a16:creationId xmlns:a16="http://schemas.microsoft.com/office/drawing/2014/main" id="{DEDBE97D-B56B-AC5C-D26F-2D0DEB0D0826}"/>
              </a:ext>
            </a:extLst>
          </p:cNvPr>
          <p:cNvSpPr/>
          <p:nvPr/>
        </p:nvSpPr>
        <p:spPr>
          <a:xfrm>
            <a:off x="6177102" y="2589170"/>
            <a:ext cx="5933796" cy="5108660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4"/>
                </a:lnTo>
                <a:lnTo>
                  <a:pt x="0" y="10819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9000"/>
            </a:blip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213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8C787-72D1-6066-55ED-7B428A23C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CC828CB-C8FC-D1FC-A2A7-04CB23D779BE}"/>
              </a:ext>
            </a:extLst>
          </p:cNvPr>
          <p:cNvSpPr/>
          <p:nvPr/>
        </p:nvSpPr>
        <p:spPr>
          <a:xfrm flipV="1">
            <a:off x="13332616" y="-1117411"/>
            <a:ext cx="5933796" cy="5944604"/>
          </a:xfrm>
          <a:custGeom>
            <a:avLst/>
            <a:gdLst/>
            <a:ahLst/>
            <a:cxnLst/>
            <a:rect l="l" t="t" r="r" b="b"/>
            <a:pathLst>
              <a:path w="5933796" h="5944604">
                <a:moveTo>
                  <a:pt x="0" y="5944604"/>
                </a:moveTo>
                <a:lnTo>
                  <a:pt x="5933796" y="5944604"/>
                </a:lnTo>
                <a:lnTo>
                  <a:pt x="5933796" y="0"/>
                </a:lnTo>
                <a:lnTo>
                  <a:pt x="0" y="0"/>
                </a:lnTo>
                <a:lnTo>
                  <a:pt x="0" y="59446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CB1E10-3857-9E59-E714-AFF106D88CC9}"/>
              </a:ext>
            </a:extLst>
          </p:cNvPr>
          <p:cNvSpPr/>
          <p:nvPr/>
        </p:nvSpPr>
        <p:spPr>
          <a:xfrm flipV="1">
            <a:off x="152400" y="7193834"/>
            <a:ext cx="5099372" cy="5108660"/>
          </a:xfrm>
          <a:custGeom>
            <a:avLst/>
            <a:gdLst/>
            <a:ahLst/>
            <a:cxnLst/>
            <a:rect l="l" t="t" r="r" b="b"/>
            <a:pathLst>
              <a:path w="5099372" h="5108660">
                <a:moveTo>
                  <a:pt x="0" y="5108660"/>
                </a:moveTo>
                <a:lnTo>
                  <a:pt x="5099372" y="5108660"/>
                </a:lnTo>
                <a:lnTo>
                  <a:pt x="5099372" y="0"/>
                </a:lnTo>
                <a:lnTo>
                  <a:pt x="0" y="0"/>
                </a:lnTo>
                <a:lnTo>
                  <a:pt x="0" y="510866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D6D660A-21C3-DD57-174D-607B8BCD52E6}"/>
              </a:ext>
            </a:extLst>
          </p:cNvPr>
          <p:cNvSpPr/>
          <p:nvPr/>
        </p:nvSpPr>
        <p:spPr>
          <a:xfrm>
            <a:off x="2888963" y="7193834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D303B1D1-573A-D32C-152E-6CB6957A5997}"/>
              </a:ext>
            </a:extLst>
          </p:cNvPr>
          <p:cNvGrpSpPr/>
          <p:nvPr/>
        </p:nvGrpSpPr>
        <p:grpSpPr>
          <a:xfrm>
            <a:off x="-799737" y="-2386992"/>
            <a:ext cx="4526045" cy="4526045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F2E5269-A291-DFCD-6F25-075E0D5046B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B0B0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A23A0E6-E163-575D-C024-91CAC5416F98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17437754-8A5F-CD0C-425A-FDFD7073A0DE}"/>
              </a:ext>
            </a:extLst>
          </p:cNvPr>
          <p:cNvGrpSpPr/>
          <p:nvPr/>
        </p:nvGrpSpPr>
        <p:grpSpPr>
          <a:xfrm>
            <a:off x="-2341697" y="806833"/>
            <a:ext cx="4526045" cy="4526045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7D051C8-A38A-0643-5B23-C8577E22B31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837E7B">
                  <a:alpha val="2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7F477CB-A7E1-8B0E-283C-25281F8FBBEE}"/>
                </a:ext>
              </a:extLst>
            </p:cNvPr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28575" tIns="28575" rIns="28575" bIns="28575" rtlCol="0" anchor="ctr"/>
            <a:lstStyle/>
            <a:p>
              <a:pPr algn="ctr">
                <a:lnSpc>
                  <a:spcPts val="1589"/>
                </a:lnSpc>
              </a:pPr>
              <a:endParaRPr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6FF02BC3-2D16-7197-1DAC-CA178A05B1CE}"/>
              </a:ext>
            </a:extLst>
          </p:cNvPr>
          <p:cNvSpPr/>
          <p:nvPr/>
        </p:nvSpPr>
        <p:spPr>
          <a:xfrm>
            <a:off x="11840783" y="2235973"/>
            <a:ext cx="5010340" cy="5010340"/>
          </a:xfrm>
          <a:custGeom>
            <a:avLst/>
            <a:gdLst/>
            <a:ahLst/>
            <a:cxnLst/>
            <a:rect l="l" t="t" r="r" b="b"/>
            <a:pathLst>
              <a:path w="5010340" h="5010340">
                <a:moveTo>
                  <a:pt x="0" y="0"/>
                </a:moveTo>
                <a:lnTo>
                  <a:pt x="5010340" y="0"/>
                </a:lnTo>
                <a:lnTo>
                  <a:pt x="5010340" y="5010340"/>
                </a:lnTo>
                <a:lnTo>
                  <a:pt x="0" y="5010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C76C6EA-F34B-2696-666E-80E38BB16639}"/>
              </a:ext>
            </a:extLst>
          </p:cNvPr>
          <p:cNvSpPr txBox="1"/>
          <p:nvPr/>
        </p:nvSpPr>
        <p:spPr>
          <a:xfrm>
            <a:off x="1591330" y="806833"/>
            <a:ext cx="4733270" cy="4340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</a:pPr>
            <a:r>
              <a:rPr lang="en-US" sz="3784" spc="140" dirty="0">
                <a:solidFill>
                  <a:srgbClr val="7189C2"/>
                </a:solidFill>
                <a:latin typeface="Nunito Sans"/>
                <a:ea typeface="Nunito Sans"/>
                <a:cs typeface="Nunito Sans"/>
                <a:sym typeface="Nunito Sans"/>
              </a:rPr>
              <a:t>CONCLUSÃO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D58674F3-43FE-0CF3-0BFC-194667D952DE}"/>
              </a:ext>
            </a:extLst>
          </p:cNvPr>
          <p:cNvSpPr txBox="1"/>
          <p:nvPr/>
        </p:nvSpPr>
        <p:spPr>
          <a:xfrm>
            <a:off x="2861749" y="3132676"/>
            <a:ext cx="1081767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/>
              <a:t>O Sistema de Gestão de Investimentos cumpriu seu propósito de auxiliar no controle e acompanhamento de investimentos, integrando gerenciamento de usuários, consulta de ativos e registro de operações em uma única plataforma. O projeto permitiu a aplicação prática dos conceitos estudados e estabeleceu uma base consistente para futuras evoluções do sistema.</a:t>
            </a:r>
            <a:endParaRPr lang="pt-BR" sz="2800" dirty="0">
              <a:solidFill>
                <a:schemeClr val="tx2">
                  <a:lumMod val="75000"/>
                </a:schemeClr>
              </a:solidFill>
              <a:latin typeface="Nunito Sans" pitchFamily="2" charset="0"/>
            </a:endParaRPr>
          </a:p>
        </p:txBody>
      </p:sp>
      <p:sp>
        <p:nvSpPr>
          <p:cNvPr id="12" name="Freeform 14">
            <a:extLst>
              <a:ext uri="{FF2B5EF4-FFF2-40B4-BE49-F238E27FC236}">
                <a16:creationId xmlns:a16="http://schemas.microsoft.com/office/drawing/2014/main" id="{B7EA5775-1BF4-DD51-40D6-4280E174C3FE}"/>
              </a:ext>
            </a:extLst>
          </p:cNvPr>
          <p:cNvSpPr/>
          <p:nvPr/>
        </p:nvSpPr>
        <p:spPr>
          <a:xfrm>
            <a:off x="6177102" y="2589170"/>
            <a:ext cx="5933796" cy="5108660"/>
          </a:xfrm>
          <a:custGeom>
            <a:avLst/>
            <a:gdLst/>
            <a:ahLst/>
            <a:cxnLst/>
            <a:rect l="l" t="t" r="r" b="b"/>
            <a:pathLst>
              <a:path w="1221218" h="1081985">
                <a:moveTo>
                  <a:pt x="0" y="0"/>
                </a:moveTo>
                <a:lnTo>
                  <a:pt x="1221219" y="0"/>
                </a:lnTo>
                <a:lnTo>
                  <a:pt x="1221219" y="1081984"/>
                </a:lnTo>
                <a:lnTo>
                  <a:pt x="0" y="10819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9000"/>
            </a:blip>
            <a:stretch>
              <a:fillRect l="-121577" t="-29090" r="-117623" b="-80041"/>
            </a:stretch>
          </a:blipFill>
        </p:spPr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1863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717729" y="1028700"/>
            <a:ext cx="6442548" cy="3870512"/>
          </a:xfrm>
          <a:custGeom>
            <a:avLst/>
            <a:gdLst/>
            <a:ahLst/>
            <a:cxnLst/>
            <a:rect l="l" t="t" r="r" b="b"/>
            <a:pathLst>
              <a:path w="6442548" h="3870512">
                <a:moveTo>
                  <a:pt x="0" y="0"/>
                </a:moveTo>
                <a:lnTo>
                  <a:pt x="6442548" y="0"/>
                </a:lnTo>
                <a:lnTo>
                  <a:pt x="6442548" y="3870512"/>
                </a:lnTo>
                <a:lnTo>
                  <a:pt x="0" y="38705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8537" t="-26806" r="-39715" b="-35165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5400000" flipV="1">
            <a:off x="13935164" y="6943390"/>
            <a:ext cx="4621402" cy="4629820"/>
          </a:xfrm>
          <a:custGeom>
            <a:avLst/>
            <a:gdLst/>
            <a:ahLst/>
            <a:cxnLst/>
            <a:rect l="l" t="t" r="r" b="b"/>
            <a:pathLst>
              <a:path w="4621402" h="4629820">
                <a:moveTo>
                  <a:pt x="0" y="4629820"/>
                </a:moveTo>
                <a:lnTo>
                  <a:pt x="4621403" y="4629820"/>
                </a:lnTo>
                <a:lnTo>
                  <a:pt x="4621403" y="0"/>
                </a:lnTo>
                <a:lnTo>
                  <a:pt x="0" y="0"/>
                </a:lnTo>
                <a:lnTo>
                  <a:pt x="0" y="46298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rot="-5400000" flipV="1">
            <a:off x="-924086" y="-473991"/>
            <a:ext cx="4474500" cy="4482650"/>
          </a:xfrm>
          <a:custGeom>
            <a:avLst/>
            <a:gdLst/>
            <a:ahLst/>
            <a:cxnLst/>
            <a:rect l="l" t="t" r="r" b="b"/>
            <a:pathLst>
              <a:path w="4474500" h="4482650">
                <a:moveTo>
                  <a:pt x="0" y="4482650"/>
                </a:moveTo>
                <a:lnTo>
                  <a:pt x="4474500" y="4482650"/>
                </a:lnTo>
                <a:lnTo>
                  <a:pt x="4474500" y="0"/>
                </a:lnTo>
                <a:lnTo>
                  <a:pt x="0" y="0"/>
                </a:lnTo>
                <a:lnTo>
                  <a:pt x="0" y="448265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AutoShape 5"/>
          <p:cNvSpPr/>
          <p:nvPr/>
        </p:nvSpPr>
        <p:spPr>
          <a:xfrm>
            <a:off x="-342595" y="5143500"/>
            <a:ext cx="18903370" cy="0"/>
          </a:xfrm>
          <a:prstGeom prst="line">
            <a:avLst/>
          </a:prstGeom>
          <a:ln w="9525" cap="flat">
            <a:solidFill>
              <a:srgbClr val="0B0B0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6101399" y="5834791"/>
            <a:ext cx="6085202" cy="522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98"/>
              </a:lnSpc>
              <a:spcBef>
                <a:spcPct val="0"/>
              </a:spcBef>
            </a:pPr>
            <a:r>
              <a:rPr lang="en-US" sz="4469" b="1">
                <a:solidFill>
                  <a:srgbClr val="0B0B0B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Agradecemos pela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221268" y="6381126"/>
            <a:ext cx="5845464" cy="562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010"/>
              </a:lnSpc>
              <a:spcBef>
                <a:spcPct val="0"/>
              </a:spcBef>
            </a:pPr>
            <a:r>
              <a:rPr lang="en-US" sz="4718" b="1">
                <a:solidFill>
                  <a:srgbClr val="7189C2"/>
                </a:solidFill>
                <a:latin typeface="Nunito Sans Heavy"/>
                <a:ea typeface="Nunito Sans Heavy"/>
                <a:cs typeface="Nunito Sans Heavy"/>
                <a:sym typeface="Nunito Sans Heavy"/>
              </a:rPr>
              <a:t>atenção!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333</Words>
  <Application>Microsoft Office PowerPoint</Application>
  <PresentationFormat>Personalizar</PresentationFormat>
  <Paragraphs>55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2" baseType="lpstr">
      <vt:lpstr>Nunito Sans</vt:lpstr>
      <vt:lpstr>Nunito Sans Heavy</vt:lpstr>
      <vt:lpstr>Nunito Sans Medium</vt:lpstr>
      <vt:lpstr>Nunito Sans Bold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Membros do grupo</dc:title>
  <cp:lastModifiedBy>Raphael Clemente Cavalcanti</cp:lastModifiedBy>
  <cp:revision>3</cp:revision>
  <dcterms:created xsi:type="dcterms:W3CDTF">2006-08-16T00:00:00Z</dcterms:created>
  <dcterms:modified xsi:type="dcterms:W3CDTF">2026-06-07T00:02:02Z</dcterms:modified>
  <dc:identifier>DAHL1G08uPc</dc:identifier>
</cp:coreProperties>
</file>